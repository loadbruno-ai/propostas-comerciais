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8" r:id="rId32"/>
    <p:sldId id="269" r:id="rId33"/>
    <p:sldId id="270" r:id="rId34"/>
    <p:sldId id="260" r:id="rId7"/>
    <p:sldId id="271" r:id="rId35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Poppins ExtraLight" pitchFamily="2" charset="77"/>
      <p:regular r:id="rId19"/>
    </p:embeddedFont>
    <p:embeddedFont>
      <p:font typeface="Poppins Light" pitchFamily="2" charset="77"/>
      <p:regular r:id="rId20"/>
      <p:italic r:id="rId21"/>
    </p:embeddedFont>
    <p:embeddedFont>
      <p:font typeface="Poppins Medium" pitchFamily="2" charset="77"/>
      <p:regular r:id="rId22"/>
      <p: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46" d="100"/>
          <a:sy n="146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8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schemas.openxmlformats.org/officeDocument/2006/relationships/font" Target="fonts/font11.fntdata"/><Relationship Id="rId26" Type="http://schemas.openxmlformats.org/officeDocument/2006/relationships/font" Target="fonts/font12.fntdata"/><Relationship Id="rId27" Type="http://schemas.openxmlformats.org/officeDocument/2006/relationships/font" Target="fonts/font13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688ee2c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688ee2c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688ee2c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688ee2c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688ee2c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688ee2c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5ff822d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5ff822d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a5ff822df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a5ff822df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a5ff822d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a5ff822d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688ee2c2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688ee2c2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688ee2c2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688ee2c2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3688ee2c2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3688ee2c2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688ee2c2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3688ee2c2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688ee2c2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3688ee2c2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29200" y="2165506"/>
            <a:ext cx="80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Consulta de postos para o chatbot e a URA, sobre a base do Mapa de Postos</a:t>
            </a:r>
            <a:endParaRPr sz="18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12875" y="4395375"/>
            <a:ext cx="604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07423" y="3633375"/>
            <a:ext cx="2321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Ipiranga · Camila Martins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493419" y="3633375"/>
            <a:ext cx="36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Desenvolvimento de API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159" y="4395377"/>
            <a:ext cx="12373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529400" y="1040256"/>
            <a:ext cx="8177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API de Busca de Postos</a:t>
            </a:r>
            <a:endParaRPr sz="4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78548" y="1467050"/>
            <a:ext cx="7391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70766" y="377703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Cenário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630825" y="1170575"/>
            <a:ext cx="61572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busca de postos do site da Ipiranga já roda sobre uma API desenvolvida e mantida pela Fattoria, com a base de postos alimentada e sincronizada pela integração de cadastro da Rede Ipiranga, em homologação e produção.</a:t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Essa API foi feita para receber o cadastro dos postos, não para responder consultas, e agora o chatbot e a URA precisam dela para passar ao cliente o telefone e o endereço do posto sem que ele precise falar com a central.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URA o cliente espera na linha, então a resposta tem que chegar em até 3 segundos e pronta para ser lida em voz.</a:t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Propomos estender a API que já existe com uma busca para os dois canais, sem duplicar a base de postos e sem mexer na integração de cadastro que já funciona.</a:t>
            </a:r>
            <a:endParaRPr sz="1100"/>
          </a:p>
        </p:txBody>
      </p:sp>
      <p:sp>
        <p:nvSpPr>
          <p:cNvPr id="78" name="Google Shape;78;p15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Levar a busca de postos ao chatbot e à URA, com resposta rápida e pronta para voz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de consulta com seis critérios de busca, documentação e entrega em produção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Fase 1:  Fundação de segurança e performance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Autenticação por canal: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migração do acesso atual para Bearer Token ou API Key, com credenciais e permissões separadas para chatbot e URA e troca de chaves sem indisponibilidade.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Índices de busca: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índices no banco para CEP, CNPJ, cidade e bairro, nome, razão social e coordenadas.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Registro assíncrono: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gravação do log fora do caminho da requisição, para a escrita em banco não pesar no tempo de resposta.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Cache em memória: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a geocodificação e as buscas mais frequentes.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Monitoramento: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métricas de latência (p95 e p99) por endpoint e por canal, e verificação de saúde da API.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Garantir a segurança e o tempo de resposta que a URA exige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Autenticação por canal, índices, cache e métricas de latência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Semana 1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Fase 2:  Endpoints de busca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Endpoint unificado: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GET /v1/postos/busca, com o critério escolhido por parâmetro e a resposta adaptada ao canal.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Busca por proximidade: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postos dentro de um raio, ordenados por distância, com a lógica já validada no Mapa de Postos.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Geocodificação: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CEP e cidade e bairro convertidos em coordenadas, com cache persistente.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Busca por texto e documento: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nome do posto, razão social e CNPJ, com tratamento de acentos, busca parcial e ordenação por relevância.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Validação e erros: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parâmetros validados, limite de resultados por canal e erros padronizados em códigos HTTP.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Responder aos seis critérios de busca da especificação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Busca por CEP, localização, nome, razão social, CNPJ e cidade e bairro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Semanas 1 e 2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Fase 3:  Resposta otimizada para a URA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Dois formatos de resposta: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completo para o chatbot e outro enxuto para a URA, sobre o mesmo motor de busca.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Texto pronto para voz: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abreviações por extenso, sem formatação nem caracteres especiais, com a frase montada para leitura.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Horário de funcionamento: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cálculo de "aberto agora", postos 24 horas, horários especiais e feriados.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Entregar à URA uma resposta curta e pronta para ser lida em voz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Formato de resposta por canal e texto normalizado para leitura em voz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Semana 3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Fase 4:  Qualidade e entrega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Testes automatizados: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unitários e de integração, cobrindo os seis critérios e os dois formatos de resposta.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Documentação: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OpenAPI atualizada e coleção Postman para os times do chatbot e da URA.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Teste de carga: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validação do tempo de resposta acordado e os ajustes que ele apontar.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  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Homologação e produção: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publicação em homologação, apoio à homologação feita pela Ipiranga e publicação em produção.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Validar o tempo de resposta e colocar a API em produção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Testes, documentação, teste de carga e API em produção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Semanas 3 e 4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Arquitetura e requisitos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Decisões técnicas e compromissos de desempenho da API: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Extensão da API existente: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base de postos já está populada e sincronizada, com homologação e produção no ar; um serviço novo duplicaria a base e criaria um problema de sincronização.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Um endpoint para os dois canais: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critério vem por parâmetro e o formato da resposta pelo canal, no lugar de seis endpoints com lógica repetida.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Endpoints atuais preservados: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integração de cadastro da Ipiranga continua funcionando sem alteração.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Cache em duas camadas: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geocodificação é a operação mais cara do fluxo, e o cache é o que sustenta o tempo de resposta da URA.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Tempo de resposta: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p95 abaixo de 3 segundos na URA e abaixo de 5 segundos no chatbot.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Padrões: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 e JSON, Bearer Token ou API Key com permissão por canal, códigos HTTP padrão e textos sem formatação.</a:t>
            </a:r>
            <a:endParaRPr sz="105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Atender à especificação sem criar uma segunda base de postos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estendida, com os endpoints atuais preservados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Definições para iniciar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Pontos que precisamos definir com vocês. O primeiro trava um dos seis critérios de busca: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Nome do posto: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integração de cadastro envia só a razão social. O nome fantasia pode passar a vir no cadastro (preferencial), ser buscado na base do Mapa de Postos ou a busca por nome fica restrita à razão social. Definir antes da fase 2.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Busca por CEP: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CEP raramente coincide com um posto, então a busca devolve os postos próximos; falta definir o raio padrão e o número máximo de resultados.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Cidade e bairro: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sugerimos 3 resultados na URA e 10 no chatbot, ordenados pela proximidade do centro da região.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Roteiro da URA: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acordar o texto-modelo, por exemplo "Posto Ipiranga na Avenida Brasil, mil e quinhentos, Centro. Aberto vinte e quatro horas."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Volume de chamadas: </a:t>
            </a: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estimativa diária por canal, para dimensionar o cache e o limite de requisições.</a:t>
            </a:r>
            <a:endParaRPr sz="105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Destravar o início do desenvolvimento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Definições registradas com a Ipiranga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Antes da fase 2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Requisitos fora de 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70000" y="1170575"/>
            <a:ext cx="82000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Itens não contemplados nesta proposta, que podem ser orçados separadamente: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Licenças de serviços de terceiros, como a geocodificação.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Infraestrutura AWS além da atual. Homologação e produção seguem na estrutura existente, sem custo adicional de provisionamento.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Desenvolvimento dentro do chatbot e da URA, que fica com os times responsáveis por esses canais.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Operação e sustentação da API depois da entrega em produção.</a:t>
            </a:r>
            <a:endParaRPr sz="1100"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478550" y="1467050"/>
            <a:ext cx="8023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Nosso Processo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Metodologia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Entregas semanais, validadas com os times dos canais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Acompanhamento semanal e homologação sempre atualizada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2650000" y="1180000"/>
            <a:ext cx="440000" cy="44000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2870000" y="162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3300000" y="119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Kickoff e definições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Alinhamento técnico com a Ipiranga e a Blip e fechamento das definições pendentes, a começar pelo nome do posto.</a:t>
            </a:r>
          </a:p>
        </p:txBody>
      </p:sp>
      <p:sp>
        <p:nvSpPr>
          <p:cNvPr id="169" name="Oval 168"/>
          <p:cNvSpPr/>
          <p:nvPr/>
        </p:nvSpPr>
        <p:spPr>
          <a:xfrm>
            <a:off x="2650000" y="2000000"/>
            <a:ext cx="440000" cy="440000"/>
          </a:xfrm>
          <a:prstGeom prst="ellipse">
            <a:avLst/>
          </a:prstGeom>
          <a:solidFill>
            <a:srgbClr val="FF1F8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870000" y="244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1" name="TextBox 170"/>
          <p:cNvSpPr txBox="1"/>
          <p:nvPr/>
        </p:nvSpPr>
        <p:spPr>
          <a:xfrm>
            <a:off x="3300000" y="201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Desenvolvimento em ciclos semanais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Cada fase entregue na semana prevista, com a homologação atualizada e acompanhamento com o time da Ipiranga.</a:t>
            </a:r>
          </a:p>
        </p:txBody>
      </p:sp>
      <p:sp>
        <p:nvSpPr>
          <p:cNvPr id="172" name="Oval 171"/>
          <p:cNvSpPr/>
          <p:nvPr/>
        </p:nvSpPr>
        <p:spPr>
          <a:xfrm>
            <a:off x="2650000" y="2820000"/>
            <a:ext cx="440000" cy="440000"/>
          </a:xfrm>
          <a:prstGeom prst="ellipse">
            <a:avLst/>
          </a:prstGeom>
          <a:solidFill>
            <a:srgbClr val="6E5BD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2870000" y="326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4" name="TextBox 173"/>
          <p:cNvSpPr txBox="1"/>
          <p:nvPr/>
        </p:nvSpPr>
        <p:spPr>
          <a:xfrm>
            <a:off x="3300000" y="283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Validação com os canais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Testes com os times do chatbot e da URA e ajuste do texto que vai ser lido em voz.</a:t>
            </a:r>
          </a:p>
        </p:txBody>
      </p:sp>
      <p:sp>
        <p:nvSpPr>
          <p:cNvPr id="175" name="Oval 174"/>
          <p:cNvSpPr/>
          <p:nvPr/>
        </p:nvSpPr>
        <p:spPr>
          <a:xfrm>
            <a:off x="2650000" y="3640000"/>
            <a:ext cx="440000" cy="440000"/>
          </a:xfrm>
          <a:prstGeom prst="ellipse">
            <a:avLst/>
          </a:prstGeom>
          <a:solidFill>
            <a:srgbClr val="3A56E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300000" y="365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Homologação e produção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Teste de carga, homologação conduzida pela Ipiranga e publicação em produção.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Roadmap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538577" y="1449410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de Busca de Postos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38577" y="19066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475550" y="19650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08547" y="2585625"/>
            <a:ext cx="1526400" cy="14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Um cronograma mais detalhado será criado no início de cada bloco do projeto e seu acompanhamento será feito utilizando a metodologia Ágil com entregas e devolutivas constantes.</a:t>
            </a:r>
            <a:endParaRPr sz="7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538577" y="2121845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4550000" y="1300000"/>
            <a:ext cx="1075000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Semana 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625000" y="1300000"/>
            <a:ext cx="1075000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Semana 2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625000" y="1560000"/>
            <a:ext cx="0" cy="239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6700000" y="1300000"/>
            <a:ext cx="1075000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Semana 3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6700000" y="1560000"/>
            <a:ext cx="0" cy="239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184" name="TextBox 183"/>
          <p:cNvSpPr txBox="1"/>
          <p:nvPr/>
        </p:nvSpPr>
        <p:spPr>
          <a:xfrm>
            <a:off x="7775000" y="1300000"/>
            <a:ext cx="1075000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Semana 4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7775000" y="1560000"/>
            <a:ext cx="0" cy="239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186" name="TextBox 185"/>
          <p:cNvSpPr txBox="1"/>
          <p:nvPr/>
        </p:nvSpPr>
        <p:spPr>
          <a:xfrm>
            <a:off x="2450000" y="168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Fase 1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Fundação de segurança e performance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590000" y="1820000"/>
            <a:ext cx="995000" cy="13000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2450000" y="212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89" name="TextBox 188"/>
          <p:cNvSpPr txBox="1"/>
          <p:nvPr/>
        </p:nvSpPr>
        <p:spPr>
          <a:xfrm>
            <a:off x="2450000" y="215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Fase 2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Endpoints de busca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127500" y="2290000"/>
            <a:ext cx="1532500" cy="130000"/>
          </a:xfrm>
          <a:prstGeom prst="roundRect">
            <a:avLst>
              <a:gd name="adj" fmla="val 50000"/>
            </a:avLst>
          </a:prstGeom>
          <a:solidFill>
            <a:srgbClr val="3A5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2450000" y="259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92" name="TextBox 191"/>
          <p:cNvSpPr txBox="1"/>
          <p:nvPr/>
        </p:nvSpPr>
        <p:spPr>
          <a:xfrm>
            <a:off x="2450000" y="262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Fase 3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Resposta otimizada para a URA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6740000" y="2760000"/>
            <a:ext cx="995000" cy="130000"/>
          </a:xfrm>
          <a:prstGeom prst="roundRect">
            <a:avLst>
              <a:gd name="adj" fmla="val 50000"/>
            </a:avLst>
          </a:prstGeom>
          <a:solidFill>
            <a:srgbClr val="FF1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2450000" y="306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95" name="TextBox 194"/>
          <p:cNvSpPr txBox="1"/>
          <p:nvPr/>
        </p:nvSpPr>
        <p:spPr>
          <a:xfrm>
            <a:off x="2450000" y="309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Fase 4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Qualidade e entrega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7277500" y="3230000"/>
            <a:ext cx="1532500" cy="130000"/>
          </a:xfrm>
          <a:prstGeom prst="roundRect">
            <a:avLst>
              <a:gd name="adj" fmla="val 50000"/>
            </a:avLst>
          </a:prstGeom>
          <a:solidFill>
            <a:srgbClr val="6E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2450000" y="353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98" name="TextBox 197"/>
          <p:cNvSpPr txBox="1"/>
          <p:nvPr/>
        </p:nvSpPr>
        <p:spPr>
          <a:xfrm>
            <a:off x="2450000" y="356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Ipiranga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Homologação, até 5 dias úteis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7815000" y="3700000"/>
            <a:ext cx="995000" cy="1300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000" y="4090000"/>
            <a:ext cx="6400000" cy="30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Prazo contado a partir da aprovação da proposta e da definição do nome do posto.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478554" y="1467053"/>
            <a:ext cx="5400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Investimento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Camila Martins          API de Busca de Postos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9138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205202" y="2743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211479" y="550915"/>
            <a:ext cx="224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Marcos de pagamento apresentados em detalhe ao lado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05202" y="11125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Atendimento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200025" y="1373200"/>
            <a:ext cx="2047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Fattoria e seu time operam dentro do horário comercial  de 2ª a 6ª feira, de 9 às 18h, operações fora do padrão acarretam em custos extras que precisam ser previamente acordados por ambas as partes antes da execução.</a:t>
            </a:r>
            <a:endParaRPr sz="7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95674" y="25603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Impostos e Taxas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90500" y="2821000"/>
            <a:ext cx="204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Os valores apresentados já contemplam impostos e tributos.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95674" y="34747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Validade da proposta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190500" y="3735400"/>
            <a:ext cx="204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30 dias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165700" y="40535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API de Busca de Postos</a:t>
            </a:r>
            <a:br>
              <a:rPr lang="en" sz="1000" b="1">
                <a:latin typeface="Poppins"/>
                <a:ea typeface="Poppins"/>
                <a:cs typeface="Poppins"/>
                <a:sym typeface="Poppins"/>
              </a:rPr>
            </a:br>
            <a:r>
              <a:rPr lang="en" sz="700">
                <a:latin typeface="Poppins"/>
                <a:ea typeface="Poppins"/>
                <a:cs typeface="Poppins"/>
                <a:sym typeface="Poppins"/>
              </a:rPr>
              <a:t>Fundação, busca, resposta para a URA, testes e produção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6802325" y="405336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R$ 20.000,00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5" name="Google Shape;205;p23"/>
          <p:cNvCxnSpPr/>
          <p:nvPr/>
        </p:nvCxnSpPr>
        <p:spPr>
          <a:xfrm>
            <a:off x="3248865" y="1046680"/>
            <a:ext cx="5012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3"/>
          <p:cNvSpPr txBox="1"/>
          <p:nvPr/>
        </p:nvSpPr>
        <p:spPr>
          <a:xfrm>
            <a:off x="3170000" y="1234300"/>
            <a:ext cx="5024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Condições de pagamento: 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divididas em marcos de entrega.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3165700" y="1624543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Assinatura da proposta (30%)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6802325" y="1624543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R$ 6.000,00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3165700" y="196680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Entrega em homologação (40%)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6802325" y="1966800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R$ 8.000,00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165700" y="2303029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Aceite em produção (30%)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6802325" y="2303029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R$ 6.000,00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Macintosh PowerPoint</Application>
  <PresentationFormat>Apresentação na tela (16:9)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Poppins SemiBold</vt:lpstr>
      <vt:lpstr>Poppins Light</vt:lpstr>
      <vt:lpstr>Arial</vt:lpstr>
      <vt:lpstr>Poppins</vt:lpstr>
      <vt:lpstr>Poppins Medium</vt:lpstr>
      <vt:lpstr>Poppins ExtraLight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Castelo Branco</cp:lastModifiedBy>
  <cp:revision>1</cp:revision>
  <dcterms:modified xsi:type="dcterms:W3CDTF">2026-06-16T23:33:24Z</dcterms:modified>
</cp:coreProperties>
</file>