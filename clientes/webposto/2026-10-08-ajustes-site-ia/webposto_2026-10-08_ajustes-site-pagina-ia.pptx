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8" r:id="rId32"/>
    <p:sldId id="271" r:id="rId35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ExtraLight" pitchFamily="2" charset="77"/>
      <p:regular r:id="rId19"/>
    </p:embeddedFont>
    <p:embeddedFont>
      <p:font typeface="Poppins Light" pitchFamily="2" charset="77"/>
      <p:regular r:id="rId20"/>
      <p:italic r:id="rId21"/>
    </p:embeddedFont>
    <p:embeddedFont>
      <p:font typeface="Poppins Medium" pitchFamily="2" charset="77"/>
      <p:regular r:id="rId22"/>
      <p: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5.xml"/><Relationship Id="rId3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688ee2c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688ee2c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688ee2c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688ee2c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688ee2c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688ee2c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5ff822d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5ff822d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5ff822d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5ff822d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688ee2c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688ee2c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688ee2c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688ee2c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3688ee2c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3688ee2c2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688ee2c2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3688ee2c2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688ee2c2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3688ee2c2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29200" y="2165506"/>
            <a:ext cx="80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 xml:space="preserve">Atualização das páginas de produto e nova página do WP IA no site da webPosto</a:t>
            </a:r>
            <a:endParaRPr sz="1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12875" y="4395375"/>
            <a:ext cx="604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07423" y="3633375"/>
            <a:ext cx="232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webPosto · Camila Lewer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93419" y="3633375"/>
            <a:ext cx="36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Manutenção avulsa · Outubro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59" y="4395377"/>
            <a:ext cx="12373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29400" y="1040256"/>
            <a:ext cx="8177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Ajustes e página de IA</a:t>
            </a:r>
            <a:endParaRPr sz="4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8548" y="1467050"/>
            <a:ext cx="7391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70766" y="377703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Cenário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30825" y="1170575"/>
            <a:ext cx="61572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 site da webPosto foi desenvolvido pela Fattoria, com páginas de produto que seguem uma mesma estrutura, enquanto a linha de produtos cresceu com a Análise Financeira, o WP Cotação, o WP Alerta, o Portal TRR e a família WP IA.</a:t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Parte dessas novidades ainda não aparece no site, e algumas informações ficaram desatualizadas, como o carrossel de adquirentes da página de Pista.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 Inteligência Artificial pede uma página própria e um destaque no menu de soluções.</a:t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Propomos atualizar as páginas sobre a estrutura que já existe e criar a página de IA no mesmo esqueleto das outras páginas de produto, com um tratamento visual que reforce a tecnologia, cobrando pelas horas realizadas dentro de um teto definido.</a:t>
            </a:r>
            <a:endParaRPr sz="1100"/>
          </a:p>
        </p:txBody>
      </p:sp>
      <p:sp>
        <p:nvSpPr>
          <p:cNvPr id="78" name="Google Shape;78;p15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Manter o site em dia com os produtos da webPosto e lançar a página do WP IA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Menu e três páginas de produto atualizados, e a nova página de Inteligência Artificial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3 semanas, até 16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Fase 1:  Ajustes nas páginas atuais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Menu de soluções: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 destaque do WP ID dá lugar à nova página de IA, a grafia passa a ser "webPosto" e a logo WP ganha uma versão para o modo escuro.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Financeiro e Contábil: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inclusão da Análise Financeira entre as funcionalidades, com o texto enviado pela webPosto.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Gestão Administrativa, TRR: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 carrossel passa a ter dois formatos, o App TRR no celular e o Portal TRR no computador, com os novos textos.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Gestão Administrativa, ferramentas: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inclusão do WP Cotação na seção de ferramentas.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Gestão Administrativa, WP Alerta: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nova seção no modelo da página de Conveniência, com as seis frentes de monitoramento: LMC, Fiscal, Preços, Caixa, Cartões e Notas de entrada.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Pista: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atualização do carrossel de adquirentes, com a saída da FlyPay e a entrada das 13 adquirentes atuais.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Atualizar as páginas de produto com as novidades da webPosto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Menu, Financeiro e Contábil, Gestão Administrativa e Pista atualizados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Semana 1, de 5 a 8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Fase 2:  Nova página de Inteligência Artificial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Estrutura: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banner principal, carrossel interativo, benefícios e dúvidas frequentes, no mesmo esqueleto das outras páginas de produto, com os textos enviados pela webPosto.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Carrossel interativo: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WP IA, WP IA Relatórios e WP IA Promoções, cada um com três destaques e a tela do produto.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Efeito de tecnologia: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borda luminosa em volta da tela do sistema, na linha da referência enviada e nas cores da webPosto.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Aprovação de layout: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 página passa por uma aprovação visual com a webPosto antes do desenvolvimento.</a:t>
            </a:r>
            <a:endParaRPr sz="11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Revisão e publicação: </a:t>
            </a: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testes em computador e celular de todas as páginas alteradas, uma rodada de ajustes e publicação no site.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Apresentar a Inteligência Artificial da webPosto em uma página própria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Página de IA aprovada, publicada e ligada ao menu de soluções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Semanas 1 a 3, de 7 a 8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Materiais necessários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Arquivos que precisamos receber da webPosto. O prazo começa a contar a partir deles: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Mockups do TRR: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foto do App TRR e mockup de computador do Portal TRR.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Adquirentes: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logos das 13 adquirentes em boa resolução, em SVG ou PNG.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WP Alerta e WP Cotação: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imagem e ícones da seção do WP Alerta e o visual do WP Cotação.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Telas do WP IA: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telas do WP IA, Relatórios e Promoções em alta resolução, que são a base do efeito da página.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Card do menu: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imagem do destaque da página de IA no menu de soluções.</a:t>
            </a:r>
            <a:endParaRPr sz="1050"/>
          </a:p>
          <a:p>
            <a:pPr marL="342900" lvl="0" indent="-177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Logo WP: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versões clara e escura, já que só o fundo transparente não resolve o modo escuro.</a:t>
            </a:r>
            <a:endParaRPr sz="105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Destravar o início de cada etapa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Materiais recebidos e conferidos pela Fattoria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Antes da semana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Requisitos fora de 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70000" y="1170575"/>
            <a:ext cx="82000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Itens não contemplados nesta proposta, que podem ser orçados separadamente: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Criação e revisão de textos, que seguem os documentos enviados pela webPosto.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Produção de fotos, mockups e ilustrações novas.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Mudanças de layout em páginas e seções que não estão nesta proposta.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Novas páginas além da página de Inteligência Artificial.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Horas acima do teto de 16 horas, que só são executadas com aprovação prévia da webPosto.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78550" y="1467050"/>
            <a:ext cx="8023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Nosso Processo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Metodologia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Entregas curtas, validadas com o time de marketing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Página de IA aprovada antes do desenvolvimento e site revisado antes da publicação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3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2650000" y="1180000"/>
            <a:ext cx="440000" cy="4400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2870000" y="162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3300000" y="119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 xml:space="preserve">Recebimento dos materiais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 xml:space="preserve">Conferência dos arquivos enviados pela webPosto e início pelos ajustes que já estiverem com tudo pronto.</a:t>
            </a:r>
          </a:p>
        </p:txBody>
      </p:sp>
      <p:sp>
        <p:nvSpPr>
          <p:cNvPr id="169" name="Oval 168"/>
          <p:cNvSpPr/>
          <p:nvPr/>
        </p:nvSpPr>
        <p:spPr>
          <a:xfrm>
            <a:off x="2650000" y="2000000"/>
            <a:ext cx="440000" cy="440000"/>
          </a:xfrm>
          <a:prstGeom prst="ellipse">
            <a:avLst/>
          </a:prstGeom>
          <a:solidFill>
            <a:srgbClr val="FF1F8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870000" y="244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3300000" y="201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 xml:space="preserve">Ajustes nas páginas atuais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 xml:space="preserve">Menu, Financeiro e Contábil, Gestão Administrativa e Pista, em paralelo ao layout da página de IA.</a:t>
            </a:r>
          </a:p>
        </p:txBody>
      </p:sp>
      <p:sp>
        <p:nvSpPr>
          <p:cNvPr id="172" name="Oval 171"/>
          <p:cNvSpPr/>
          <p:nvPr/>
        </p:nvSpPr>
        <p:spPr>
          <a:xfrm>
            <a:off x="2650000" y="2820000"/>
            <a:ext cx="440000" cy="440000"/>
          </a:xfrm>
          <a:prstGeom prst="ellipse">
            <a:avLst/>
          </a:prstGeom>
          <a:solidFill>
            <a:srgbClr val="6E5BD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2870000" y="326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3300000" y="283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 xml:space="preserve">Página de IA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 xml:space="preserve">Aprovação do layout com a webPosto e desenvolvimento sobre a estrutura das páginas de produto.</a:t>
            </a:r>
          </a:p>
        </p:txBody>
      </p:sp>
      <p:sp>
        <p:nvSpPr>
          <p:cNvPr id="175" name="Oval 174"/>
          <p:cNvSpPr/>
          <p:nvPr/>
        </p:nvSpPr>
        <p:spPr>
          <a:xfrm>
            <a:off x="2650000" y="3640000"/>
            <a:ext cx="440000" cy="440000"/>
          </a:xfrm>
          <a:prstGeom prst="ellipse">
            <a:avLst/>
          </a:prstGeom>
          <a:solidFill>
            <a:srgbClr val="3A56E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00000" y="365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 xml:space="preserve">Revisão e publicação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 xml:space="preserve">Testes em computador e celular, uma rodada de ajustes com a webPosto e publicação no 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38577" y="1449410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Ajustes no site e página de IA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38577" y="19066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75550" y="19650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08547" y="2585625"/>
            <a:ext cx="15264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cronograma mais detalhado será criado no início de cada bloco do projeto e seu acompanhamento será feito utilizando a metodologia Ágil com entregas e devolutivas constantes.</a:t>
            </a:r>
            <a:endParaRPr sz="7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538577" y="2121845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3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550000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983333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2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83333" y="1560000"/>
            <a:ext cx="0" cy="239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7416666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Semana 3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7416666" y="1560000"/>
            <a:ext cx="0" cy="239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186" name="TextBox 185"/>
          <p:cNvSpPr txBox="1"/>
          <p:nvPr/>
        </p:nvSpPr>
        <p:spPr>
          <a:xfrm>
            <a:off x="2450000" y="168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 xml:space="preserve">Fase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Ajustes nas páginas atuais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590000" y="1820000"/>
            <a:ext cx="1353333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2450000" y="212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89" name="TextBox 188"/>
          <p:cNvSpPr txBox="1"/>
          <p:nvPr/>
        </p:nvSpPr>
        <p:spPr>
          <a:xfrm>
            <a:off x="2450000" y="215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 xml:space="preserve">Fase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Layout da página de IA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266666" y="2290000"/>
            <a:ext cx="676666" cy="130000"/>
          </a:xfrm>
          <a:prstGeom prst="roundRect">
            <a:avLst>
              <a:gd name="adj" fmla="val 50000"/>
            </a:avLst>
          </a:prstGeom>
          <a:solidFill>
            <a:srgbClr val="3A5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2450000" y="259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2" name="TextBox 191"/>
          <p:cNvSpPr txBox="1"/>
          <p:nvPr/>
        </p:nvSpPr>
        <p:spPr>
          <a:xfrm>
            <a:off x="2450000" y="262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 xml:space="preserve">webPosto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Aprovação do layout, até 2 dias úteis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023333" y="2760000"/>
            <a:ext cx="573333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2450000" y="306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5" name="TextBox 194"/>
          <p:cNvSpPr txBox="1"/>
          <p:nvPr/>
        </p:nvSpPr>
        <p:spPr>
          <a:xfrm>
            <a:off x="2450000" y="309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 xml:space="preserve">Fase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Desenvolvimento da página de IA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616666" y="3230000"/>
            <a:ext cx="1516666" cy="130000"/>
          </a:xfrm>
          <a:prstGeom prst="roundRect">
            <a:avLst>
              <a:gd name="adj" fmla="val 50000"/>
            </a:avLst>
          </a:prstGeom>
          <a:solidFill>
            <a:srgbClr val="FF1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2450000" y="353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198" name="TextBox 197"/>
          <p:cNvSpPr txBox="1"/>
          <p:nvPr/>
        </p:nvSpPr>
        <p:spPr>
          <a:xfrm>
            <a:off x="2450000" y="356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 xml:space="preserve">Revisão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Testes, ajustes e publicação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153332" y="3700000"/>
            <a:ext cx="656666" cy="130000"/>
          </a:xfrm>
          <a:prstGeom prst="roundRect">
            <a:avLst>
              <a:gd name="adj" fmla="val 50000"/>
            </a:avLst>
          </a:prstGeom>
          <a:solidFill>
            <a:srgbClr val="6E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000" y="4090000"/>
            <a:ext cx="6400000" cy="30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 xml:space="preserve">Prazo contado a partir do aceite da proposta e do recebimento dos materiais.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78554" y="1467053"/>
            <a:ext cx="5400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Investimento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webPosto · Camila Lewer          Ajustes e página de IA · Outubro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9138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05202" y="2743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211479" y="550915"/>
            <a:ext cx="224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 xml:space="preserve">Valor por hora realizada, com teto aprovado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05202" y="11125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Atendimento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00025" y="1373200"/>
            <a:ext cx="2047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Fattoria e seu time operam dentro do horário comercial  de 2ª a 6ª feira, de 9 às 18h, operações fora do padrão acarretam em custos extras que precisam ser previamente acordados por ambas as partes antes da execução.</a:t>
            </a:r>
            <a:endParaRPr sz="7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95674" y="25603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Impostos e Taxas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90500" y="2821000"/>
            <a:ext cx="204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Os valores apresentados já contemplam impostos e tributos.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95674" y="34747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Validade da proposta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90500" y="3735400"/>
            <a:ext cx="20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30 dias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165700" y="40535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 xml:space="preserve">Ajustes no site e página de IA</a:t>
            </a:r>
            <a:br>
              <a:rPr lang="en" sz="1000" b="1">
                <a:latin typeface="Poppins"/>
                <a:ea typeface="Poppins"/>
                <a:cs typeface="Poppins"/>
                <a:sym typeface="Poppins"/>
              </a:rPr>
            </a:br>
            <a:r>
              <a:rPr lang="en" sz="700">
                <a:latin typeface="Poppins"/>
                <a:ea typeface="Poppins"/>
                <a:cs typeface="Poppins"/>
                <a:sym typeface="Poppins"/>
              </a:rPr>
              <a:t xml:space="preserve">Menu, páginas de produto e nova página de IA, com banco de até 16 horas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802325" y="405336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R$ 180,00 / hora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>
            <a:off x="3248865" y="1046680"/>
            <a:ext cx="5012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3"/>
          <p:cNvSpPr txBox="1"/>
          <p:nvPr/>
        </p:nvSpPr>
        <p:spPr>
          <a:xfrm>
            <a:off x="3170000" y="1234300"/>
            <a:ext cx="5024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 xml:space="preserve">Condições de pagamento: 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 xml:space="preserve">faturamento único na entrega, pelas horas realizadas, com relatório de horas.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165700" y="1624543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 xml:space="preserve">Valor da hora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802325" y="1624543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R$ 180,00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165700" y="196680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 xml:space="preserve">Estimativa de esforço (12 a 16 horas)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6802325" y="1966800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R$ 2.160 a R$ 2.880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165700" y="2303029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 xml:space="preserve">Teto aprovado (16 horas)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802325" y="2303029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R$ 2.880,00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Macintosh PowerPoint</Application>
  <PresentationFormat>Apresentação na tela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SemiBold</vt:lpstr>
      <vt:lpstr>Poppins Light</vt:lpstr>
      <vt:lpstr>Arial</vt:lpstr>
      <vt:lpstr>Poppins</vt:lpstr>
      <vt:lpstr>Poppins Medium</vt:lpstr>
      <vt:lpstr>Poppins ExtraLight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Castelo Branco</cp:lastModifiedBy>
  <cp:revision>1</cp:revision>
  <dcterms:modified xsi:type="dcterms:W3CDTF">2026-06-16T23:33:24Z</dcterms:modified>
</cp:coreProperties>
</file>