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68" r:id="rId32"/>
    <p:sldId id="269" r:id="rId33"/>
    <p:sldId id="270" r:id="rId34"/>
    <p:sldId id="271" r:id="rId35"/>
    <p:sldId id="272" r:id="rId36"/>
    <p:sldId id="273" r:id="rId37"/>
    <p:sldId id="274" r:id="rId38"/>
    <p:sldId id="275" r:id="rId39"/>
    <p:sldId id="276" r:id="rId40"/>
    <p:sldId id="277" r:id="rId41"/>
    <p:sldId id="278" r:id="rId42"/>
    <p:sldId id="279" r:id="rId43"/>
    <p:sldId id="280" r:id="rId44"/>
    <p:sldId id="281" r:id="rId45"/>
    <p:sldId id="282" r:id="rId46"/>
    <p:sldId id="283" r:id="rId47"/>
    <p:sldId id="284" r:id="rId48"/>
    <p:sldId id="285" r:id="rId49"/>
    <p:sldId id="286" r:id="rId50"/>
  </p:sldIdLst>
  <p:sldSz cx="9144000" cy="5143500" type="screen16x9"/>
  <p:notesSz cx="6858000" cy="9144000"/>
  <p:embeddedFontLst>
    <p:embeddedFont>
      <p:font typeface="Poppins" pitchFamily="2" charset="77"/>
      <p:regular r:id="rId15"/>
      <p:bold r:id="rId16"/>
      <p:italic r:id="rId17"/>
      <p:boldItalic r:id="rId18"/>
    </p:embeddedFont>
    <p:embeddedFont>
      <p:font typeface="Poppins ExtraLight" pitchFamily="2" charset="77"/>
      <p:regular r:id="rId19"/>
    </p:embeddedFont>
    <p:embeddedFont>
      <p:font typeface="Poppins Light" pitchFamily="2" charset="77"/>
      <p:regular r:id="rId20"/>
      <p:italic r:id="rId21"/>
    </p:embeddedFont>
    <p:embeddedFont>
      <p:font typeface="Poppins Medium" pitchFamily="2" charset="77"/>
      <p:regular r:id="rId22"/>
      <p:italic r:id="rId23"/>
    </p:embeddedFont>
    <p:embeddedFont>
      <p:font typeface="Poppins SemiBold" pitchFamily="2" charset="77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86"/>
  </p:normalViewPr>
  <p:slideViewPr>
    <p:cSldViewPr snapToGrid="0">
      <p:cViewPr varScale="1">
        <p:scale>
          <a:sx n="146" d="100"/>
          <a:sy n="146" d="100"/>
        </p:scale>
        <p:origin x="664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4" Type="http://schemas.openxmlformats.org/officeDocument/2006/relationships/notesMaster" Target="notesMasters/notesMaster1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Relationship Id="rId23" Type="http://schemas.openxmlformats.org/officeDocument/2006/relationships/font" Target="fonts/font9.fntdata"/><Relationship Id="rId24" Type="http://schemas.openxmlformats.org/officeDocument/2006/relationships/font" Target="fonts/font10.fntdata"/><Relationship Id="rId25" Type="http://schemas.openxmlformats.org/officeDocument/2006/relationships/font" Target="fonts/font11.fntdata"/><Relationship Id="rId26" Type="http://schemas.openxmlformats.org/officeDocument/2006/relationships/font" Target="fonts/font12.fntdata"/><Relationship Id="rId27" Type="http://schemas.openxmlformats.org/officeDocument/2006/relationships/font" Target="fonts/font13.fnt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5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529200" y="2165506"/>
            <a:ext cx="8097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Estratégia e roadmap macro para o lançamento do marketplace B2B</a:t>
            </a:r>
            <a:endParaRPr sz="2000"/>
          </a:p>
        </p:txBody>
      </p:sp>
      <p:sp>
        <p:nvSpPr>
          <p:cNvPr id="56" name="Google Shape;56;p13"/>
          <p:cNvSpPr txBox="1"/>
          <p:nvPr/>
        </p:nvSpPr>
        <p:spPr>
          <a:xfrm>
            <a:off x="1112875" y="4395375"/>
            <a:ext cx="6045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 xml:space="preserve">Apresentação          ICONIC — Camila Brandão Soares          Roadmap e estratégia — Setembro de 2026</a:t>
            </a:r>
            <a:endParaRPr sz="900"/>
          </a:p>
        </p:txBody>
      </p:sp>
      <p:sp>
        <p:nvSpPr>
          <p:cNvPr id="57" name="Google Shape;57;p13"/>
          <p:cNvSpPr txBox="1"/>
          <p:nvPr/>
        </p:nvSpPr>
        <p:spPr>
          <a:xfrm>
            <a:off x="2507423" y="3633375"/>
            <a:ext cx="2321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ICONIC — Camila Brandão Soares</a:t>
            </a:r>
            <a:endParaRPr sz="900"/>
          </a:p>
        </p:txBody>
      </p:sp>
      <p:sp>
        <p:nvSpPr>
          <p:cNvPr id="58" name="Google Shape;58;p13"/>
          <p:cNvSpPr txBox="1"/>
          <p:nvPr/>
        </p:nvSpPr>
        <p:spPr>
          <a:xfrm>
            <a:off x="4493419" y="3633375"/>
            <a:ext cx="3600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Roadmap e estratégia — Setembro de 2026</a:t>
            </a:r>
            <a:endParaRPr sz="900"/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7159" y="4395377"/>
            <a:ext cx="1237328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529400" y="1040256"/>
            <a:ext cx="81777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Do cadastro do CNPJ à recompra</a:t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5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478548" y="1467050"/>
            <a:ext cx="74000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Cenário</a:t>
            </a:r>
            <a:endParaRPr sz="5200"/>
          </a:p>
        </p:txBody>
      </p:sp>
      <p:sp>
        <p:nvSpPr>
          <p:cNvPr id="68" name="Google Shape;68;p14"/>
          <p:cNvSpPr txBox="1"/>
          <p:nvPr/>
        </p:nvSpPr>
        <p:spPr>
          <a:xfrm>
            <a:off x="470766" y="377703"/>
            <a:ext cx="1900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200">
                <a:solidFill>
                  <a:srgbClr val="33333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01</a:t>
            </a:r>
            <a:endParaRPr sz="7200"/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5014" y="4507474"/>
            <a:ext cx="325607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808075" y="4528975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 xml:space="preserve">Apresentação          ICONIC — Camila Brandão Soares          Roadmap e estratégia — Setembro de 2026</a:t>
            </a:r>
            <a:endParaRPr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379826" y="340625"/>
            <a:ext cx="8303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a Camila nos falou</a:t>
            </a:r>
            <a:endParaRPr sz="3600"/>
          </a:p>
        </p:txBody>
      </p:sp>
      <p:sp>
        <p:nvSpPr>
          <p:cNvPr id="111" name="Google Shape;111;p17"/>
          <p:cNvSpPr txBox="1"/>
          <p:nvPr/>
        </p:nvSpPr>
        <p:spPr>
          <a:xfrm>
            <a:off x="379826" y="1170575"/>
            <a:ext cx="83037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177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Uma marca nova,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sem vínculo visível com ICONIC, Ipiranga ou Texaco, vendendo para o pequeno varejo de carros, motos e caminhões.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 mercado fragmentado,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sem portal consolidado, em que o ponto de venda nem sabe que pode comprar online.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Lançamento por estado,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conforme estoque, preço e frete de cada distribuidor se conectam à plataforma.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Plataforma de e-commerce em decisão,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entre dois fornecedores, com o front-end vindo junto.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Duas bases: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a do distribuidor, que já existe e está parada, e o varejo novo, que precisa ser encontrado.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Sem time digital interno: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a contratação prevista é comercial, para trazer fornecedores e mix.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Orçamento limitado e prazo curto: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execução em dezembro ou janeiro.</a:t>
            </a:r>
            <a:endParaRPr sz="110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59595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"Eu preciso cadastrar o CNPJ dele lá, eu preciso que ele compre lá, eu preciso aumentar o mix dele lá, eu preciso gerar recompra lá."</a:t>
            </a:r>
            <a:endParaRPr sz="1100"/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Apresentação          ICONIC — Camila Brandão Soares          Roadmap e estratégia — Setembro de 2026</a:t>
            </a:r>
            <a:endParaRPr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379826" y="340625"/>
            <a:ext cx="8303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entendemos do desafio</a:t>
            </a:r>
            <a:endParaRPr sz="3000"/>
          </a:p>
        </p:txBody>
      </p:sp>
      <p:sp>
        <p:nvSpPr>
          <p:cNvPr id="111" name="Google Shape;111;p17"/>
          <p:cNvSpPr txBox="1"/>
          <p:nvPr/>
        </p:nvSpPr>
        <p:spPr>
          <a:xfrm>
            <a:off x="379826" y="1170575"/>
            <a:ext cx="83037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177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É um marketplace, e marketplace nasce pelos dois lados.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A oferta (mix e distribuidores conectados) precisa estar de pé antes de a demanda (o varejista) ser chamada; chamar cedo demais queima verba e credibilidade.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primeira compra mais barata está na base do distribuidor.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Cliente inativo que já conhece o produto e o distribuidor converte por relacionamento, não por mídia.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varejo novo precisa ser educado antes de ser convertido.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Ele não procura um portal porque não sabe que existe; a mensagem é "abasteça o negócio", não "conheça a marca".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cadastro do CNPJ é o primeiro atrito.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Cada campo, documento e espera vira desistência; a jornada precisa ser desenhada para esse comprador, não para o consumidor final.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 estado por vez, medido de ponta a ponta.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O que o primeiro estado ensina vira o playbook do segundo, e a expansão passa a ser repetição, não novo projeto.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FF1F8F"/>
                </a:solidFill>
                <a:latin typeface="Poppins"/>
                <a:ea typeface="Poppins"/>
                <a:cs typeface="Poppins"/>
                <a:sym typeface="Poppins"/>
              </a:rPr>
              <a:t xml:space="preserve">Pergunta: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Por que esses estados? Foi estratégia, distribuição ou pesquisa prévia?</a:t>
            </a:r>
            <a:endParaRPr sz="1100"/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Apresentação          ICONIC — Camila Brandão Soares          Roadmap e estratégia — Setembro de 2026</a:t>
            </a:r>
            <a:endParaRPr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5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/>
        </p:nvSpPr>
        <p:spPr>
          <a:xfrm>
            <a:off x="478550" y="1467050"/>
            <a:ext cx="74000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Roadmap macro</a:t>
            </a:r>
            <a:endParaRPr sz="5200"/>
          </a:p>
        </p:txBody>
      </p:sp>
      <p:sp>
        <p:nvSpPr>
          <p:cNvPr id="146" name="Google Shape;146;p19"/>
          <p:cNvSpPr txBox="1"/>
          <p:nvPr/>
        </p:nvSpPr>
        <p:spPr>
          <a:xfrm>
            <a:off x="470776" y="377700"/>
            <a:ext cx="1900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200">
                <a:solidFill>
                  <a:srgbClr val="33333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02</a:t>
            </a:r>
            <a:endParaRPr sz="7200"/>
          </a:p>
        </p:txBody>
      </p:sp>
      <p:pic>
        <p:nvPicPr>
          <p:cNvPr id="147" name="Google Shape;14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5014" y="4507474"/>
            <a:ext cx="325607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>
            <a:off x="808075" y="4528975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 xml:space="preserve">Apresentação          ICONIC — Camila Brandão Soares          Roadmap e estratégia — Setembro de 2026</a:t>
            </a:r>
            <a:endParaRPr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379826" y="340625"/>
            <a:ext cx="8303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Cinco fases até o primeiro estado rodando</a:t>
            </a:r>
            <a:endParaRPr sz="2600"/>
          </a:p>
        </p:txBody>
      </p:sp>
      <p:sp>
        <p:nvSpPr>
          <p:cNvPr id="111" name="Google Shape;111;p17"/>
          <p:cNvSpPr txBox="1"/>
          <p:nvPr/>
        </p:nvSpPr>
        <p:spPr>
          <a:xfrm>
            <a:off x="379826" y="3500000"/>
            <a:ext cx="83037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 cinco fases levam ao primeiro estado no ar com o funil medido. Os passos futuros entram quando a primeira compra estiver validada.</a:t>
            </a:r>
            <a:endParaRPr sz="1100"/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Apresentação          ICONIC — Camila Brandão Soares          Roadmap e estratégia — Setembro de 2026</a:t>
            </a:r>
            <a:endParaRPr sz="900"/>
          </a:p>
        </p:txBody>
      </p:sp>
      <p:sp>
        <p:nvSpPr>
          <p:cNvPr id="123" name="Rounded Rectangle 122"/>
          <p:cNvSpPr/>
          <p:nvPr/>
        </p:nvSpPr>
        <p:spPr>
          <a:xfrm>
            <a:off x="379826" y="1250000"/>
            <a:ext cx="1604740" cy="640000"/>
          </a:xfrm>
          <a:prstGeom prst="roundRect">
            <a:avLst>
              <a:gd name="adj" fmla="val 16000"/>
            </a:avLst>
          </a:prstGeom>
          <a:solidFill>
            <a:srgbClr val="6E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000" b="1">
                <a:solidFill>
                  <a:srgbClr val="FFFFFF"/>
                </a:solidFill>
                <a:latin typeface="Poppins"/>
              </a:rPr>
              <a:t>Imersão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79826" y="1930000"/>
            <a:ext cx="1604740" cy="520000"/>
          </a:xfrm>
          <a:prstGeom prst="rect">
            <a:avLst/>
          </a:prstGeom>
          <a:noFill/>
        </p:spPr>
        <p:txBody>
          <a:bodyPr wrap="square" lIns="30000" rIns="30000" tIns="0" bIns="0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Poppins Medium"/>
              </a:rPr>
              <a:t>mercado, persona, jornada, estratégia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969566" y="1440000"/>
            <a:ext cx="100000" cy="300000"/>
          </a:xfrm>
          <a:prstGeom prst="rect">
            <a:avLst/>
          </a:prstGeom>
          <a:noFill/>
        </p:spPr>
        <p:txBody>
          <a:bodyPr wrap="square" lIns="30000" rIns="30000" tIns="0" bIns="0">
            <a:spAutoFit/>
          </a:bodyPr>
          <a:lstStyle/>
          <a:p>
            <a:pPr algn="ctr"/>
            <a:r>
              <a:rPr sz="1200" b="1">
                <a:solidFill>
                  <a:srgbClr val="595959"/>
                </a:solidFill>
                <a:latin typeface="Poppins Medium"/>
              </a:rPr>
              <a:t>›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2054566" y="1250000"/>
            <a:ext cx="1604740" cy="640000"/>
          </a:xfrm>
          <a:prstGeom prst="roundRect">
            <a:avLst>
              <a:gd name="adj" fmla="val 16000"/>
            </a:avLst>
          </a:prstGeom>
          <a:solidFill>
            <a:srgbClr val="6E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000" b="1">
                <a:solidFill>
                  <a:srgbClr val="FFFFFF"/>
                </a:solidFill>
                <a:latin typeface="Poppins"/>
              </a:rPr>
              <a:t>Planejamento de mídia e social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054566" y="1930000"/>
            <a:ext cx="1604740" cy="520000"/>
          </a:xfrm>
          <a:prstGeom prst="rect">
            <a:avLst/>
          </a:prstGeom>
          <a:noFill/>
        </p:spPr>
        <p:txBody>
          <a:bodyPr wrap="square" lIns="30000" rIns="30000" tIns="0" bIns="0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Poppins Medium"/>
              </a:rPr>
              <a:t>canais, volumes, editoriais, enxoval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644306" y="1440000"/>
            <a:ext cx="100000" cy="300000"/>
          </a:xfrm>
          <a:prstGeom prst="rect">
            <a:avLst/>
          </a:prstGeom>
          <a:noFill/>
        </p:spPr>
        <p:txBody>
          <a:bodyPr wrap="square" lIns="30000" rIns="30000" tIns="0" bIns="0">
            <a:spAutoFit/>
          </a:bodyPr>
          <a:lstStyle/>
          <a:p>
            <a:pPr algn="ctr"/>
            <a:r>
              <a:rPr sz="1200" b="1">
                <a:solidFill>
                  <a:srgbClr val="595959"/>
                </a:solidFill>
                <a:latin typeface="Poppins Medium"/>
              </a:rPr>
              <a:t>›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3729306" y="1250000"/>
            <a:ext cx="1604740" cy="640000"/>
          </a:xfrm>
          <a:prstGeom prst="roundRect">
            <a:avLst>
              <a:gd name="adj" fmla="val 16000"/>
            </a:avLst>
          </a:prstGeom>
          <a:solidFill>
            <a:srgbClr val="6E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000" b="1">
                <a:solidFill>
                  <a:srgbClr val="FFFFFF"/>
                </a:solidFill>
                <a:latin typeface="Poppins"/>
              </a:rPr>
              <a:t>Setup técnico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729306" y="1930000"/>
            <a:ext cx="1604740" cy="520000"/>
          </a:xfrm>
          <a:prstGeom prst="rect">
            <a:avLst/>
          </a:prstGeom>
          <a:noFill/>
        </p:spPr>
        <p:txBody>
          <a:bodyPr wrap="square" lIns="30000" rIns="30000" tIns="0" bIns="0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Poppins Medium"/>
              </a:rPr>
              <a:t>CRM, integração, pixels, landing pages, réguas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319046" y="1440000"/>
            <a:ext cx="100000" cy="300000"/>
          </a:xfrm>
          <a:prstGeom prst="rect">
            <a:avLst/>
          </a:prstGeom>
          <a:noFill/>
        </p:spPr>
        <p:txBody>
          <a:bodyPr wrap="square" lIns="30000" rIns="30000" tIns="0" bIns="0">
            <a:spAutoFit/>
          </a:bodyPr>
          <a:lstStyle/>
          <a:p>
            <a:pPr algn="ctr"/>
            <a:r>
              <a:rPr sz="1200" b="1">
                <a:solidFill>
                  <a:srgbClr val="595959"/>
                </a:solidFill>
                <a:latin typeface="Poppins Medium"/>
              </a:rPr>
              <a:t>›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404046" y="1250000"/>
            <a:ext cx="1604740" cy="640000"/>
          </a:xfrm>
          <a:prstGeom prst="roundRect">
            <a:avLst>
              <a:gd name="adj" fmla="val 16000"/>
            </a:avLst>
          </a:prstGeom>
          <a:solidFill>
            <a:srgbClr val="6E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000" b="1">
                <a:solidFill>
                  <a:srgbClr val="FFFFFF"/>
                </a:solidFill>
                <a:latin typeface="Poppins"/>
              </a:rPr>
              <a:t>Campanhas de primeira compra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04046" y="1930000"/>
            <a:ext cx="1604740" cy="520000"/>
          </a:xfrm>
          <a:prstGeom prst="rect">
            <a:avLst/>
          </a:prstGeom>
          <a:noFill/>
        </p:spPr>
        <p:txBody>
          <a:bodyPr wrap="square" lIns="30000" rIns="30000" tIns="0" bIns="0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Poppins Medium"/>
              </a:rPr>
              <a:t>base do distribuidor, awareness, testes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993786" y="1440000"/>
            <a:ext cx="100000" cy="300000"/>
          </a:xfrm>
          <a:prstGeom prst="rect">
            <a:avLst/>
          </a:prstGeom>
          <a:noFill/>
        </p:spPr>
        <p:txBody>
          <a:bodyPr wrap="square" lIns="30000" rIns="30000" tIns="0" bIns="0">
            <a:spAutoFit/>
          </a:bodyPr>
          <a:lstStyle/>
          <a:p>
            <a:pPr algn="ctr"/>
            <a:r>
              <a:rPr sz="1200" b="1">
                <a:solidFill>
                  <a:srgbClr val="595959"/>
                </a:solidFill>
                <a:latin typeface="Poppins Medium"/>
              </a:rPr>
              <a:t>›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7078786" y="1250000"/>
            <a:ext cx="1604740" cy="640000"/>
          </a:xfrm>
          <a:prstGeom prst="roundRect">
            <a:avLst>
              <a:gd name="adj" fmla="val 16000"/>
            </a:avLst>
          </a:prstGeom>
          <a:solidFill>
            <a:srgbClr val="6E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000" b="1">
                <a:solidFill>
                  <a:srgbClr val="FFFFFF"/>
                </a:solidFill>
                <a:latin typeface="Poppins"/>
              </a:rPr>
              <a:t>Análise e ajustes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078786" y="1930000"/>
            <a:ext cx="1604740" cy="520000"/>
          </a:xfrm>
          <a:prstGeom prst="rect">
            <a:avLst/>
          </a:prstGeom>
          <a:noFill/>
        </p:spPr>
        <p:txBody>
          <a:bodyPr wrap="square" lIns="30000" rIns="30000" tIns="0" bIns="0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Poppins Medium"/>
              </a:rPr>
              <a:t>dashboards, KPIs, pós-venda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79826" y="2480000"/>
            <a:ext cx="8303700" cy="260000"/>
          </a:xfrm>
          <a:prstGeom prst="rect">
            <a:avLst/>
          </a:prstGeom>
          <a:noFill/>
        </p:spPr>
        <p:txBody>
          <a:bodyPr wrap="square" lIns="30000" rIns="30000" tIns="0" bIns="0">
            <a:spAutoFit/>
          </a:bodyPr>
          <a:lstStyle/>
          <a:p>
            <a:pPr algn="l"/>
            <a:r>
              <a:rPr sz="800" b="1">
                <a:solidFill>
                  <a:srgbClr val="595959"/>
                </a:solidFill>
                <a:latin typeface="Poppins"/>
              </a:rPr>
              <a:t>PASSOS FUTUROS, DEPOIS DA PRIMEIRA COMPRA VALIDADA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379826" y="2760000"/>
            <a:ext cx="2023425" cy="520000"/>
          </a:xfrm>
          <a:prstGeom prst="roundRect">
            <a:avLst>
              <a:gd name="adj" fmla="val 16000"/>
            </a:avLst>
          </a:prstGeom>
          <a:solidFill>
            <a:srgbClr val="E4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900" b="1">
                <a:solidFill>
                  <a:srgbClr val="6E5BD5"/>
                </a:solidFill>
                <a:latin typeface="Poppins"/>
              </a:rPr>
              <a:t>Jornadas de recorrência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2473251" y="2760000"/>
            <a:ext cx="2023425" cy="520000"/>
          </a:xfrm>
          <a:prstGeom prst="roundRect">
            <a:avLst>
              <a:gd name="adj" fmla="val 16000"/>
            </a:avLst>
          </a:prstGeom>
          <a:solidFill>
            <a:srgbClr val="E4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900" b="1">
                <a:solidFill>
                  <a:srgbClr val="6E5BD5"/>
                </a:solidFill>
                <a:latin typeface="Poppins"/>
              </a:rPr>
              <a:t>Cross-sell e aumento de mix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4566676" y="2760000"/>
            <a:ext cx="2023425" cy="520000"/>
          </a:xfrm>
          <a:prstGeom prst="roundRect">
            <a:avLst>
              <a:gd name="adj" fmla="val 16000"/>
            </a:avLst>
          </a:prstGeom>
          <a:solidFill>
            <a:srgbClr val="E4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900" b="1">
                <a:solidFill>
                  <a:srgbClr val="6E5BD5"/>
                </a:solidFill>
                <a:latin typeface="Poppins"/>
              </a:rPr>
              <a:t>Playbook de expansão por estado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6660101" y="2760000"/>
            <a:ext cx="2023425" cy="520000"/>
          </a:xfrm>
          <a:prstGeom prst="roundRect">
            <a:avLst>
              <a:gd name="adj" fmla="val 16000"/>
            </a:avLst>
          </a:prstGeom>
          <a:solidFill>
            <a:srgbClr val="E4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900" b="1">
                <a:solidFill>
                  <a:srgbClr val="6E5BD5"/>
                </a:solidFill>
                <a:latin typeface="Poppins"/>
              </a:rPr>
              <a:t>Fidelização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379826" y="340625"/>
            <a:ext cx="8303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2.1 Imersão</a:t>
            </a:r>
            <a:endParaRPr sz="3600"/>
          </a:p>
        </p:txBody>
      </p:sp>
      <p:sp>
        <p:nvSpPr>
          <p:cNvPr id="111" name="Google Shape;111;p17"/>
          <p:cNvSpPr txBox="1"/>
          <p:nvPr/>
        </p:nvSpPr>
        <p:spPr>
          <a:xfrm>
            <a:off x="2377625" y="1170575"/>
            <a:ext cx="64104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177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Mercado e concorrência: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como o varejista pequeno compra hoje (distribuidor, representante, balcão, WhatsApp), quem já tenta vender online para ele e o que não funcionou.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Público: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conversas com varejistas e distribuidores dos estados de lançamento para desenhar a persona do comprador: quem decide, o que compra, com que frequência, o que o faria trocar de canal.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Jornada: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rascunho da jornada do primeiro contato ao pedido recorrente, com os atritos do cadastro do CNPJ, da primeira compra e do frete.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Estratégia: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tese de entrada por estado, ordem entre base do distribuidor e varejo novo, critérios de prontidão e o que medir em cada etapa.</a:t>
            </a:r>
            <a:endParaRPr sz="1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rgbClr val="FF1F8F"/>
                </a:solidFill>
                <a:latin typeface="Poppins"/>
                <a:ea typeface="Poppins"/>
                <a:cs typeface="Poppins"/>
                <a:sym typeface="Poppins"/>
              </a:rPr>
              <a:t xml:space="preserve">Pergunta: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Quem é o comprador de vocês hoje? Por onde ele fala com o distribuidor?</a:t>
            </a:r>
            <a:endParaRPr sz="1000"/>
          </a:p>
        </p:txBody>
      </p:sp>
      <p:sp>
        <p:nvSpPr>
          <p:cNvPr id="112" name="Google Shape;112;p17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Entender mercado, comprador e jornada antes de decidir canal ou verba</a:t>
            </a:r>
            <a:endParaRPr sz="800"/>
          </a:p>
        </p:txBody>
      </p:sp>
      <p:sp>
        <p:nvSpPr>
          <p:cNvPr id="114" name="Google Shape;114;p17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Persona, mapa da jornada, diagnóstico e tese de estratégia</a:t>
            </a:r>
            <a:endParaRPr sz="800"/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 a 4 semanas</a:t>
            </a:r>
            <a:endParaRPr sz="800"/>
          </a:p>
        </p:txBody>
      </p:sp>
      <p:sp>
        <p:nvSpPr>
          <p:cNvPr id="121" name="Google Shape;121;p17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Apresentação          ICONIC — Camila Brandão Soares          Roadmap e estratégia — Setembro de 2026</a:t>
            </a:r>
            <a:endParaRPr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379826" y="340625"/>
            <a:ext cx="8303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2.2 Planejamento de mídia e social</a:t>
            </a:r>
            <a:endParaRPr sz="3000"/>
          </a:p>
        </p:txBody>
      </p:sp>
      <p:sp>
        <p:nvSpPr>
          <p:cNvPr id="111" name="Google Shape;111;p17"/>
          <p:cNvSpPr txBox="1"/>
          <p:nvPr/>
        </p:nvSpPr>
        <p:spPr>
          <a:xfrm>
            <a:off x="2377625" y="1170575"/>
            <a:ext cx="64104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177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Estratégia por objetivo: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awareness para ensinar que dá para comprar online, remarketing para quem visitou e não cadastrou, conversão para cadastro e primeira compra.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Volume por localização: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verba distribuída por estado conforme a prontidão de mix, integração e base, não em partes iguais.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Canais e editoriais: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Facebook e Instagram como base, com linha editorial em educação, produto e necessidade, e prova (fornecedores e distribuidores na plataforma).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Estratégia de entrada e expansão: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como a verba e a mensagem mudam do lançamento para a sustentação e para o próximo estado.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Cenários de investimento: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dois cenários para vocês reagirem, um enxuto para validar e um para acelerar.</a:t>
            </a:r>
            <a:endParaRPr sz="1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rgbClr val="FF1F8F"/>
                </a:solidFill>
                <a:latin typeface="Poppins"/>
                <a:ea typeface="Poppins"/>
                <a:cs typeface="Poppins"/>
                <a:sym typeface="Poppins"/>
              </a:rPr>
              <a:t xml:space="preserve">Pergunta: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Qual a expectativa de investimento? Há meta de CAC ou de vendas? Existe uma ideia de verba por estado?</a:t>
            </a:r>
            <a:endParaRPr sz="1000"/>
          </a:p>
        </p:txBody>
      </p:sp>
      <p:sp>
        <p:nvSpPr>
          <p:cNvPr id="112" name="Google Shape;112;p17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Definir como a demanda será gerada e com que verba</a:t>
            </a:r>
            <a:endParaRPr sz="800"/>
          </a:p>
        </p:txBody>
      </p:sp>
      <p:sp>
        <p:nvSpPr>
          <p:cNvPr id="114" name="Google Shape;114;p17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Plano de mídia por objetivo, plano editorial, cenários de investimento</a:t>
            </a:r>
            <a:endParaRPr sz="800"/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 a 3 semanas, junto com o fim da imersão</a:t>
            </a:r>
            <a:endParaRPr sz="800"/>
          </a:p>
        </p:txBody>
      </p:sp>
      <p:sp>
        <p:nvSpPr>
          <p:cNvPr id="121" name="Google Shape;121;p17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Apresentação          ICONIC — Camila Brandão Soares          Roadmap e estratégia — Setembro de 2026</a:t>
            </a:r>
            <a:endParaRPr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379826" y="340625"/>
            <a:ext cx="8303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2.3 Canais e enxoval de lançamento</a:t>
            </a:r>
            <a:endParaRPr sz="3000"/>
          </a:p>
        </p:txBody>
      </p:sp>
      <p:sp>
        <p:nvSpPr>
          <p:cNvPr id="111" name="Google Shape;111;p17"/>
          <p:cNvSpPr txBox="1"/>
          <p:nvPr/>
        </p:nvSpPr>
        <p:spPr>
          <a:xfrm>
            <a:off x="2377625" y="1170575"/>
            <a:ext cx="64104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177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Arroz com feijão primeiro: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Facebook e Instagram abertos e configurados em nome da marca nova, WhatsApp Business conectado, contas de anúncio e públicos criados.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Enxoval de lançamento: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identidade de campanha, peças por objetivo (awareness, remarketing, conversão), banners e vitrines para a plataforma, landing pages de cadastro e estoque de posts e stories para a página não nascer vazia.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Mensagem por necessidade: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pneu, bateria, peça, palheta, filtro; o varejista compra para abastecer o negócio, e a comunicação fala disso.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Novo canal só depois: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com a base rodando e medida, testar um canal novo escolhido pela sinergia com o que a imersão e a persona mostrarem, um teste por vez.</a:t>
            </a:r>
            <a:endParaRPr sz="1000"/>
          </a:p>
        </p:txBody>
      </p:sp>
      <p:sp>
        <p:nvSpPr>
          <p:cNvPr id="112" name="Google Shape;112;p17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Chegar ao go-live com canais e material prontos</a:t>
            </a:r>
            <a:endParaRPr sz="800"/>
          </a:p>
        </p:txBody>
      </p:sp>
      <p:sp>
        <p:nvSpPr>
          <p:cNvPr id="114" name="Google Shape;114;p17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Perfis configurados, kit de campanha, landing pages, estoque de conteúdo</a:t>
            </a:r>
            <a:endParaRPr sz="800"/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 a 4 semanas, em paralelo ao setup técnico</a:t>
            </a:r>
            <a:endParaRPr sz="800"/>
          </a:p>
        </p:txBody>
      </p:sp>
      <p:sp>
        <p:nvSpPr>
          <p:cNvPr id="121" name="Google Shape;121;p17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Apresentação          ICONIC — Camila Brandão Soares          Roadmap e estratégia — Setembro de 2026</a:t>
            </a:r>
            <a:endParaRPr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379826" y="340625"/>
            <a:ext cx="8303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2.4 Definição de CRM e setup técnico</a:t>
            </a:r>
            <a:endParaRPr sz="3000"/>
          </a:p>
        </p:txBody>
      </p:sp>
      <p:sp>
        <p:nvSpPr>
          <p:cNvPr id="111" name="Google Shape;111;p17"/>
          <p:cNvSpPr txBox="1"/>
          <p:nvPr/>
        </p:nvSpPr>
        <p:spPr>
          <a:xfrm>
            <a:off x="2377625" y="1170575"/>
            <a:ext cx="64104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177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Definição do CRM: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recomendação de HubSpot, por modelar distribuidor, pedido e estado como objetos e crescer sem retrabalho de jornada quando entrarem os próximos estados.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Integração com o e-commerce: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eventos de cadastro, carrinho e pedido chegando ao CRM e aos painéis; requisitos de marketing entregues agora, para pesarem na escolha da plataforma.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Pixels, tags e analytics: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GTM como camada de tags, pixels de Meta e Google, GA4 e Microsoft Clarity configurados por evento, mais as integrações que a plataforma e o CRM pedirem, com o funil rastreado de ponta a ponta.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Landing pages: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páginas de cadastro por estado e por distribuidor, desenhadas para reduzir o atrito do CNPJ.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Réguas básicas: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boas-vindas, cadastro incompleto, incentivo à primeira compra, carrinho abandonado e pós-venda; as réguas de recorrência ficam para a fase seguinte.</a:t>
            </a:r>
            <a:endParaRPr sz="1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rgbClr val="FF1F8F"/>
                </a:solidFill>
                <a:latin typeface="Poppins"/>
                <a:ea typeface="Poppins"/>
                <a:cs typeface="Poppins"/>
                <a:sym typeface="Poppins"/>
              </a:rPr>
              <a:t xml:space="preserve">Pergunta: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Qual plataforma está na frente e quando isso é definido? Teremos plataforma de SAC?</a:t>
            </a:r>
            <a:endParaRPr sz="1000"/>
          </a:p>
        </p:txBody>
      </p:sp>
      <p:sp>
        <p:nvSpPr>
          <p:cNvPr id="112" name="Google Shape;112;p17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Dados e relacionamento prontos antes da primeira campanha</a:t>
            </a:r>
            <a:endParaRPr sz="800"/>
          </a:p>
        </p:txBody>
      </p:sp>
      <p:sp>
        <p:nvSpPr>
          <p:cNvPr id="114" name="Google Shape;114;p17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CRM, integração com o e-commerce, pixels, landing pages, réguas básicas</a:t>
            </a:r>
            <a:endParaRPr sz="800"/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 a 6 semanas, conforme a plataforma</a:t>
            </a:r>
            <a:endParaRPr sz="800"/>
          </a:p>
        </p:txBody>
      </p:sp>
      <p:sp>
        <p:nvSpPr>
          <p:cNvPr id="121" name="Google Shape;121;p17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Apresentação          ICONIC — Camila Brandão Soares          Roadmap e estratégia — Setembro de 2026</a:t>
            </a:r>
            <a:endParaRPr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379826" y="340625"/>
            <a:ext cx="8303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2.5 Campanhas com foco em primeira compra</a:t>
            </a:r>
            <a:endParaRPr sz="2600"/>
          </a:p>
        </p:txBody>
      </p:sp>
      <p:sp>
        <p:nvSpPr>
          <p:cNvPr id="111" name="Google Shape;111;p17"/>
          <p:cNvSpPr txBox="1"/>
          <p:nvPr/>
        </p:nvSpPr>
        <p:spPr>
          <a:xfrm>
            <a:off x="2377625" y="1170575"/>
            <a:ext cx="64104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177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Base do distribuidor primeiro: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régua de convite, cadastro e primeira compra sobre a base cedida, com o distribuidor alinhado; é a compra mais barata do lançamento.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Awareness e conversão no estado: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Google por intenção de compra, Facebook e Instagram para educação e conversão, remarketing para quem não concluiu o cadastro.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Análise diária e testes: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públicos, segmentações, mensagens e ofertas testados em ciclos curtos, com a verba migrando para o que converte.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Gate antes de ligar a verba: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mix mínimo atrativo, integração validada, base preparada e rastreamento funcionando; sem isso, a campanha espera.</a:t>
            </a:r>
            <a:endParaRPr sz="1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rgbClr val="FF1F8F"/>
                </a:solidFill>
                <a:latin typeface="Poppins"/>
                <a:ea typeface="Poppins"/>
                <a:cs typeface="Poppins"/>
                <a:sym typeface="Poppins"/>
              </a:rPr>
              <a:t xml:space="preserve">Pergunta: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Qual a estratégia e a previsão de mix e de fornecedores para o lançamento do primeiro estado?</a:t>
            </a:r>
            <a:endParaRPr sz="1000"/>
          </a:p>
        </p:txBody>
      </p:sp>
      <p:sp>
        <p:nvSpPr>
          <p:cNvPr id="112" name="Google Shape;112;p17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Converter a base do distribuidor e os primeiros varejistas em pedidos</a:t>
            </a:r>
            <a:endParaRPr sz="800"/>
          </a:p>
        </p:txBody>
      </p:sp>
      <p:sp>
        <p:nvSpPr>
          <p:cNvPr id="114" name="Google Shape;114;p17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Campanhas no ar, testes de públicos, leitura diária do funil</a:t>
            </a:r>
            <a:endParaRPr sz="800"/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 a 6 semanas após o go-live</a:t>
            </a:r>
            <a:endParaRPr sz="800"/>
          </a:p>
        </p:txBody>
      </p:sp>
      <p:sp>
        <p:nvSpPr>
          <p:cNvPr id="121" name="Google Shape;121;p17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Apresentação          ICONIC — Camila Brandão Soares          Roadmap e estratégia — Setembro de 2026</a:t>
            </a:r>
            <a:endParaRPr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379826" y="340625"/>
            <a:ext cx="8303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2.6 Análise e ajustes</a:t>
            </a:r>
            <a:endParaRPr sz="3600"/>
          </a:p>
        </p:txBody>
      </p:sp>
      <p:sp>
        <p:nvSpPr>
          <p:cNvPr id="111" name="Google Shape;111;p17"/>
          <p:cNvSpPr txBox="1"/>
          <p:nvPr/>
        </p:nvSpPr>
        <p:spPr>
          <a:xfrm>
            <a:off x="2377625" y="1170575"/>
            <a:ext cx="64104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177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Dashboards do funil: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alcance, cadastro do CNPJ, primeira compra, mix e recompra, por estado e por distribuidor.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Confirmação de KPIs: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metas por trimestre acordadas com vocês, e o que é sucesso para o primeiro estado escrito antes de ele começar.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Monitoramento de pós-venda: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dúvidas, reclamações, entrega e troca lidas junto com o funil, porque um pedido mal atendido não vira recompra.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Ajustes: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verba, públicos, mensagens e réguas revisados toda semana; aprendizados registrados para o próximo estado.</a:t>
            </a:r>
            <a:endParaRPr sz="1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rgbClr val="FF1F8F"/>
                </a:solidFill>
                <a:latin typeface="Poppins"/>
                <a:ea typeface="Poppins"/>
                <a:cs typeface="Poppins"/>
                <a:sym typeface="Poppins"/>
              </a:rPr>
              <a:t xml:space="preserve">Pergunta: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Onde fica o time de atendimento? A plataforma de e-commerce que está sendo contratada inclui atendimento? Se não, quem opera o SAC na ICONIC? Quem responde DM e WhatsApp?</a:t>
            </a:r>
            <a:endParaRPr sz="1000"/>
          </a:p>
        </p:txBody>
      </p:sp>
      <p:sp>
        <p:nvSpPr>
          <p:cNvPr id="112" name="Google Shape;112;p17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Transformar dados em decisões semanais e cuidar de quem já comprou</a:t>
            </a:r>
            <a:endParaRPr sz="800"/>
          </a:p>
        </p:txBody>
      </p:sp>
      <p:sp>
        <p:nvSpPr>
          <p:cNvPr id="114" name="Google Shape;114;p17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Dashboards, KPIs confirmados, rotina de acompanhamento e pós-venda</a:t>
            </a:r>
            <a:endParaRPr sz="800"/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Contínuo, a partir do go-live</a:t>
            </a:r>
            <a:endParaRPr sz="800"/>
          </a:p>
        </p:txBody>
      </p:sp>
      <p:sp>
        <p:nvSpPr>
          <p:cNvPr id="121" name="Google Shape;121;p17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Apresentação          ICONIC — Camila Brandão Soares          Roadmap e estratégia — Setembro de 2026</a:t>
            </a:r>
            <a:endParaRPr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379826" y="340625"/>
            <a:ext cx="8303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Depois do primeiro estado</a:t>
            </a:r>
            <a:endParaRPr sz="3600"/>
          </a:p>
        </p:txBody>
      </p:sp>
      <p:sp>
        <p:nvSpPr>
          <p:cNvPr id="111" name="Google Shape;111;p17"/>
          <p:cNvSpPr txBox="1"/>
          <p:nvPr/>
        </p:nvSpPr>
        <p:spPr>
          <a:xfrm>
            <a:off x="379826" y="1170575"/>
            <a:ext cx="83037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177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Recorrência, recompra e aumento de mix:</a:t>
            </a: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jornadas por recência, frequência e valor, recomendação de categorias complementares e campanhas de cross-sell, para o varejista comprar mais categorias e com mais frequência.</a:t>
            </a:r>
            <a:endParaRPr sz="12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Playbook de expansão por estado:</a:t>
            </a: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o que o primeiro estado ensinou vira um kit replicável, com critérios de prontidão, campanhas, réguas e material regionalizados, para lançar os próximos em 4 a 6 semanas cada.</a:t>
            </a:r>
            <a:endParaRPr sz="12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Fidelização:</a:t>
            </a: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programa futuro, desenhado depois de a primeira compra e a recompra estarem validadas; sem detalhes agora.</a:t>
            </a:r>
            <a:endParaRPr sz="1200"/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Apresentação          ICONIC — Camila Brandão Soares          Roadmap e estratégia — Setembro de 2026</a:t>
            </a:r>
            <a:endParaRPr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379826" y="340625"/>
            <a:ext cx="8303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Papéis e responsabilidades</a:t>
            </a:r>
            <a:endParaRPr sz="3600"/>
          </a:p>
        </p:txBody>
      </p:sp>
      <p:sp>
        <p:nvSpPr>
          <p:cNvPr id="111" name="Google Shape;111;p17"/>
          <p:cNvSpPr txBox="1"/>
          <p:nvPr/>
        </p:nvSpPr>
        <p:spPr>
          <a:xfrm>
            <a:off x="379826" y="1170575"/>
            <a:ext cx="83037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Como entendemos a divisão. Vale conferir se são os papéis que vocês esperam.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ICONIC: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fornecedores e mix por estado, política comercial e comissão, acordo com os distribuidores e uso das bases, verba de mídia, aprovação de campanhas, interlocução única e SAC do varejista.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Fattoria: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estratégia, imersão e jornada, CRM (definição, implantação e operação), planejamento e execução de mídia, redes sociais, criação, conversão dentro da plataforma, dados e o playbook por estado.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Plataforma de e-commerce: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front-end, catálogo, checkout, integração de estoque, preço, frete e logística, espaços promocionais e suporte técnico.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Distribuidores: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bases com regra de uso, estoque, preço e frete por estado, ocorrências de entrega.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FF1F8F"/>
                </a:solidFill>
                <a:latin typeface="Poppins"/>
                <a:ea typeface="Poppins"/>
                <a:cs typeface="Poppins"/>
                <a:sym typeface="Poppins"/>
              </a:rPr>
              <a:t xml:space="preserve">Pergunta: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Quem define os calendários promocionais: nasce do comercial da ICONIC com os fornecedores ou é provocado pelo marketing?</a:t>
            </a:r>
            <a:endParaRPr sz="1100"/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Apresentação          ICONIC — Camila Brandão Soares          Roadmap e estratégia — Setembro de 2026</a:t>
            </a:r>
            <a:endParaRPr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379826" y="340625"/>
            <a:ext cx="8303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Roadmap de go-to-market</a:t>
            </a:r>
            <a:endParaRPr sz="3600"/>
          </a:p>
        </p:txBody>
      </p:sp>
      <p:sp>
        <p:nvSpPr>
          <p:cNvPr id="111" name="Google Shape;111;p17"/>
          <p:cNvSpPr txBox="1"/>
          <p:nvPr/>
        </p:nvSpPr>
        <p:spPr>
          <a:xfrm>
            <a:off x="379826" y="1170575"/>
            <a:ext cx="83037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177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Setembro: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alinhamento, NDA e lista de autorizados, proposta com cenários, requisitos de marketing entregues para a escolha da plataforma.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Outubro: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imersão (persona, jornada, diagnóstico) e planejamento de mídia e social; definição do CRM.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Novembro: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setup técnico (CRM, integração, pixels, landing pages, réguas) e enxoval de lançamento (canais, kit, estoque de conteúdo).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Dezembro: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gate de prontidão do primeiro estado, campanhas montadas, base do distribuidor carregada.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Janeiro: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go-live do primeiro estado, campanhas com foco em primeira compra, análise diária.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partir de fevereiro: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análise e ajustes, réguas de recorrência, e o segundo estado 4 a 6 semanas depois do primeiro, seguindo o playbook.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FF1F8F"/>
                </a:solidFill>
                <a:latin typeface="Poppins"/>
                <a:ea typeface="Poppins"/>
                <a:cs typeface="Poppins"/>
                <a:sym typeface="Poppins"/>
              </a:rPr>
              <a:t xml:space="preserve">Pergunta: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Qual será o primeiro estado? E o que "final do ano" significa para vocês: estratégia definida, agência fechada, CRM rodando ou plataforma no ar?</a:t>
            </a:r>
            <a:endParaRPr sz="1100"/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Apresentação          ICONIC — Camila Brandão Soares          Roadmap e estratégia — Setembro de 2026</a:t>
            </a:r>
            <a:endParaRPr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5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6"/>
            <a:ext cx="914404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2"/>
          <p:cNvSpPr txBox="1"/>
          <p:nvPr/>
        </p:nvSpPr>
        <p:spPr>
          <a:xfrm>
            <a:off x="478554" y="1467053"/>
            <a:ext cx="74000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Time e próximos passos</a:t>
            </a:r>
            <a:endParaRPr sz="5200"/>
          </a:p>
        </p:txBody>
      </p:sp>
      <p:sp>
        <p:nvSpPr>
          <p:cNvPr id="186" name="Google Shape;186;p22"/>
          <p:cNvSpPr txBox="1"/>
          <p:nvPr/>
        </p:nvSpPr>
        <p:spPr>
          <a:xfrm>
            <a:off x="470776" y="377700"/>
            <a:ext cx="1900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200">
                <a:solidFill>
                  <a:srgbClr val="33333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03</a:t>
            </a:r>
            <a:endParaRPr sz="7200"/>
          </a:p>
        </p:txBody>
      </p:sp>
      <p:pic>
        <p:nvPicPr>
          <p:cNvPr id="187" name="Google Shape;18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5014" y="4507474"/>
            <a:ext cx="325607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 txBox="1"/>
          <p:nvPr/>
        </p:nvSpPr>
        <p:spPr>
          <a:xfrm>
            <a:off x="808075" y="4528975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 xml:space="preserve">Apresentação          ICONIC — Camila Brandão Soares          Roadmap e estratégia — Setembro de 2026</a:t>
            </a:r>
            <a:endParaRPr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379826" y="340625"/>
            <a:ext cx="8303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Quem responde pelo projeto</a:t>
            </a:r>
            <a:endParaRPr sz="3600"/>
          </a:p>
        </p:txBody>
      </p:sp>
      <p:sp>
        <p:nvSpPr>
          <p:cNvPr id="111" name="Google Shape;111;p17"/>
          <p:cNvSpPr txBox="1"/>
          <p:nvPr/>
        </p:nvSpPr>
        <p:spPr>
          <a:xfrm>
            <a:off x="379826" y="1170575"/>
            <a:ext cx="83037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177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Bruno Branco, Lead Product Designer.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Sócio da Fattoria, com mais de 20 anos desenhando produtos, plataformas digitais e jornadas complexas para clientes como Bradesco Seguros, Ipiranga, Amil e outros. No projeto: estratégia, imersão e jornada, conversão dentro da plataforma, criação e interlocução com a ICONIC.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Vinicius Vasconcelos, Head de Growth.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Conduz o funil de ponta a ponta: planejamento e execução de mídia, testes, prova de valor na base do distribuidor e o playbook de expansão por estado.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Thiago Nóbrega, CTO.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Responde por CRM, integrações com o e-commerce, pixels, dados e os requisitos técnicos para a escolha da plataforma.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Núcleo de execução: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CRM e automação, gestão de mídia, redes sociais e comunidade, planejamento e conteúdo, direção de arte e design, dados e analytics, apoio técnico.</a:t>
            </a:r>
            <a:endParaRPr sz="1100"/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Apresentação          ICONIC — Camila Brandão Soares          Roadmap e estratégia — Setembro de 2026</a:t>
            </a:r>
            <a:endParaRPr sz="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/>
        </p:nvSpPr>
        <p:spPr>
          <a:xfrm>
            <a:off x="379826" y="340625"/>
            <a:ext cx="8303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precisamos para fechar a proposta</a:t>
            </a:r>
            <a:endParaRPr sz="2600"/>
          </a:p>
        </p:txBody>
      </p:sp>
      <p:sp>
        <p:nvSpPr>
          <p:cNvPr id="128" name="Google Shape;128;p18"/>
          <p:cNvSpPr txBox="1"/>
          <p:nvPr/>
        </p:nvSpPr>
        <p:spPr>
          <a:xfrm>
            <a:off x="379826" y="1170575"/>
            <a:ext cx="83037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177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6E5BD5"/>
                </a:solidFill>
                <a:latin typeface="Poppins"/>
                <a:ea typeface="Poppins"/>
                <a:cs typeface="Poppins"/>
                <a:sym typeface="Poppins"/>
              </a:rPr>
              <a:t>1.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Por que esses estados? Estratégia, distribuição ou pesquisa prévia? Qual será o primeiro?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6E5BD5"/>
                </a:solidFill>
                <a:latin typeface="Poppins"/>
                <a:ea typeface="Poppins"/>
                <a:cs typeface="Poppins"/>
                <a:sym typeface="Poppins"/>
              </a:rPr>
              <a:t>2.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Quem é o comprador de vocês hoje e por onde ele fala com o distribuidor?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6E5BD5"/>
                </a:solidFill>
                <a:latin typeface="Poppins"/>
                <a:ea typeface="Poppins"/>
                <a:cs typeface="Poppins"/>
                <a:sym typeface="Poppins"/>
              </a:rPr>
              <a:t>3.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Qual a expectativa de investimento? Meta de CAC ou de vendas? Ideia de verba por estado?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6E5BD5"/>
                </a:solidFill>
                <a:latin typeface="Poppins"/>
                <a:ea typeface="Poppins"/>
                <a:cs typeface="Poppins"/>
                <a:sym typeface="Poppins"/>
              </a:rPr>
              <a:t>4.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Qual a estratégia e a previsão de mix e de fornecedores para o lançamento?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6E5BD5"/>
                </a:solidFill>
                <a:latin typeface="Poppins"/>
                <a:ea typeface="Poppins"/>
                <a:cs typeface="Poppins"/>
                <a:sym typeface="Poppins"/>
              </a:rPr>
              <a:t>5.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Qual plataforma de e-commerce está na frente e quando isso é definido?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6E5BD5"/>
                </a:solidFill>
                <a:latin typeface="Poppins"/>
                <a:ea typeface="Poppins"/>
                <a:cs typeface="Poppins"/>
                <a:sym typeface="Poppins"/>
              </a:rPr>
              <a:t>6.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Teremos plataforma de SAC? Quem opera o atendimento? Quem responde DM e WhatsApp?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6E5BD5"/>
                </a:solidFill>
                <a:latin typeface="Poppins"/>
                <a:ea typeface="Poppins"/>
                <a:cs typeface="Poppins"/>
                <a:sym typeface="Poppins"/>
              </a:rPr>
              <a:t>7.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 bases dos distribuidores virão para o lançamento? Com que regra de uso e de contato?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6E5BD5"/>
                </a:solidFill>
                <a:latin typeface="Poppins"/>
                <a:ea typeface="Poppins"/>
                <a:cs typeface="Poppins"/>
                <a:sym typeface="Poppins"/>
              </a:rPr>
              <a:t>8.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Quem define os calendários promocionais?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6E5BD5"/>
                </a:solidFill>
                <a:latin typeface="Poppins"/>
                <a:ea typeface="Poppins"/>
                <a:cs typeface="Poppins"/>
                <a:sym typeface="Poppins"/>
              </a:rPr>
              <a:t>9.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que "final do ano" significa: estratégia definida, agência fechada, CRM rodando ou plataforma no ar?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6E5BD5"/>
                </a:solidFill>
                <a:latin typeface="Poppins"/>
                <a:ea typeface="Poppins"/>
                <a:cs typeface="Poppins"/>
                <a:sym typeface="Poppins"/>
              </a:rPr>
              <a:t>10.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Quem contrata: a ICONIC ou um CNPJ da marca nova?</a:t>
            </a:r>
            <a:endParaRPr sz="1100"/>
          </a:p>
        </p:txBody>
      </p:sp>
      <p:pic>
        <p:nvPicPr>
          <p:cNvPr id="133" name="Google Shape;13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Apresentação          ICONIC — Camila Brandão Soares          Roadmap e estratégia — Setembro de 2026</a:t>
            </a:r>
            <a:endParaRPr sz="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379826" y="340625"/>
            <a:ext cx="8303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Próximos passos</a:t>
            </a:r>
            <a:endParaRPr sz="3600"/>
          </a:p>
        </p:txBody>
      </p:sp>
      <p:sp>
        <p:nvSpPr>
          <p:cNvPr id="111" name="Google Shape;111;p17"/>
          <p:cNvSpPr txBox="1"/>
          <p:nvPr/>
        </p:nvSpPr>
        <p:spPr>
          <a:xfrm>
            <a:off x="379826" y="1170575"/>
            <a:ext cx="83037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177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NDA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enviado pela ICONIC e lista de quem pode saber, esta semana.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Requisitos de marketing para a plataforma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entregues pela Fattoria dentro da janela de decisão dos fornecedores.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Proposta com cenários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a partir das respostas desta reunião, com escopo, roadmap, time e investimento por fase.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Reunião técnica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sobre CRM e integração assim que a plataforma estiver definida.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pt-BR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Decisão até o início de outubro,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 para a imersão começar e o primeiro estado sair em janeiro.</a:t>
            </a:r>
            <a:endParaRPr sz="1100"/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Apresentação          ICONIC — Camila Brandão Soares          Roadmap e estratégia — Setembro de 2026</a:t>
            </a:r>
            <a:endParaRPr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838</Words>
  <Application>Microsoft Macintosh PowerPoint</Application>
  <PresentationFormat>Apresentação na tela (16:9)</PresentationFormat>
  <Paragraphs>116</Paragraphs>
  <Slides>12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9" baseType="lpstr">
      <vt:lpstr>Poppins SemiBold</vt:lpstr>
      <vt:lpstr>Poppins Light</vt:lpstr>
      <vt:lpstr>Arial</vt:lpstr>
      <vt:lpstr>Poppins</vt:lpstr>
      <vt:lpstr>Poppins Medium</vt:lpstr>
      <vt:lpstr>Poppins ExtraLight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Bruno Castelo Branco</cp:lastModifiedBy>
  <cp:revision>1</cp:revision>
  <dcterms:modified xsi:type="dcterms:W3CDTF">2026-06-16T23:33:24Z</dcterms:modified>
</cp:coreProperties>
</file>