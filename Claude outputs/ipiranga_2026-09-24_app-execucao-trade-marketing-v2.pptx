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3"/>
    <p:sldId id="257" r:id="rId4"/>
    <p:sldId id="258" r:id="rId5"/>
    <p:sldId id="272" r:id="rId36"/>
    <p:sldId id="274" r:id="rId38"/>
    <p:sldId id="259" r:id="rId6"/>
    <p:sldId id="268" r:id="rId32"/>
    <p:sldId id="269" r:id="rId33"/>
    <p:sldId id="270" r:id="rId34"/>
    <p:sldId id="273" r:id="rId37"/>
    <p:sldId id="260" r:id="rId7"/>
    <p:sldId id="271" r:id="rId35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Poppins" pitchFamily="2" charset="77"/>
      <p:regular r:id="rId15"/>
      <p:bold r:id="rId16"/>
      <p:italic r:id="rId17"/>
      <p:boldItalic r:id="rId18"/>
    </p:embeddedFont>
    <p:embeddedFont>
      <p:font typeface="Poppins ExtraLight" pitchFamily="2" charset="77"/>
      <p:regular r:id="rId19"/>
    </p:embeddedFont>
    <p:embeddedFont>
      <p:font typeface="Poppins Light" pitchFamily="2" charset="77"/>
      <p:regular r:id="rId20"/>
      <p:italic r:id="rId21"/>
    </p:embeddedFont>
    <p:embeddedFont>
      <p:font typeface="Poppins Medium" pitchFamily="2" charset="77"/>
      <p:regular r:id="rId22"/>
      <p:italic r:id="rId23"/>
    </p:embeddedFont>
    <p:embeddedFont>
      <p:font typeface="Poppins SemiBold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6"/>
  </p:normalViewPr>
  <p:slideViewPr>
    <p:cSldViewPr snapToGrid="0">
      <p:cViewPr varScale="1">
        <p:scale>
          <a:sx n="146" d="100"/>
          <a:sy n="146" d="100"/>
        </p:scale>
        <p:origin x="6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8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font" Target="fonts/font9.fntdata"/><Relationship Id="rId24" Type="http://schemas.openxmlformats.org/officeDocument/2006/relationships/font" Target="fonts/font10.fntdata"/><Relationship Id="rId25" Type="http://schemas.openxmlformats.org/officeDocument/2006/relationships/font" Target="fonts/font11.fntdata"/><Relationship Id="rId26" Type="http://schemas.openxmlformats.org/officeDocument/2006/relationships/font" Target="fonts/font12.fntdata"/><Relationship Id="rId27" Type="http://schemas.openxmlformats.org/officeDocument/2006/relationships/font" Target="fonts/font13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9.xml"/>  <Relationship Id="rId36" Type="http://schemas.openxmlformats.org/officeDocument/2006/relationships/slide" Target="slides/slide16.xml"/>
  <Relationship Id="rId37" Type="http://schemas.openxmlformats.org/officeDocument/2006/relationships/slide" Target="slides/slide17.xml"/>
  <Relationship Id="rId38" Type="http://schemas.openxmlformats.org/officeDocument/2006/relationships/slide" Target="slides/slide18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688ee2c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688ee2c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3688ee2c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3688ee2c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3688ee2c2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3688ee2c2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a5ff822d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a5ff822d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a5ff822df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a5ff822df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a5ff822d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a5ff822d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688ee2c2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3688ee2c2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688ee2c2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3688ee2c2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3688ee2c2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3688ee2c2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3688ee2c2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3688ee2c2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3688ee2c2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3688ee2c2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29200" y="2165506"/>
            <a:ext cx="80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Consultoria e redesign da experiência para fazer do app o hub do consultor de trade, com a primeira fase no ar em dezembro</a:t>
            </a:r>
            <a:endParaRPr sz="18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12875" y="4395375"/>
            <a:ext cx="6045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507423" y="3633375"/>
            <a:ext cx="2321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Ipiranga · Julio Araujo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493419" y="3633375"/>
            <a:ext cx="36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Consultoria e UX/UI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159" y="4395377"/>
            <a:ext cx="12373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529400" y="1040256"/>
            <a:ext cx="81777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App de Execução</a:t>
            </a:r>
            <a:endParaRPr sz="44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78548" y="1467050"/>
            <a:ext cx="7391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70766" y="377703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Cenário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630825" y="1170575"/>
            <a:ext cx="61572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App de Execução é a ferramenta de campo dos consultores de Trade Marketing da Ipiranga: um PWA com Guia de Execução, checklist, dashboard e a central "Posso Ajudar?", desenvolvido e mantido pela Stringhini desde 2023. Cada consultor precisa visitar 100% da carteira a cada quadrimestre, com um checklist por posto que depois passa por auditoria.</a:t>
            </a:r>
            <a:endParaRPr sz="1050"/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estudo feito em agosto com consultores e coordenadores mostra que a rotina acontece em boa parte fora do app. O mapa da carteira fica no Spoke, no My Maps ou no KMV, a meta de visitas é calculada no caderno, as informações do posto vêm de outras bases e o relatório pós-visita vira PDF, planilha e e-mail, um posto por vez.</a:t>
            </a:r>
            <a:endParaRPr sz="1050"/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estratégia da Ipiranga é transformar o app no hub de trabalho do consultor, a porta de entrada da rotina de campo. Propomos conduzir com a Ipiranga e a Stringhini o aprofundamento que a estratégia pede: imersão, arquitetura, conceito do hub, jornadas prioritárias e validação, com a primeira fase desenhada a tempo de ser implementada pela Stringhini em dezembro.</a:t>
            </a:r>
            <a:endParaRPr sz="1050"/>
          </a:p>
        </p:txBody>
      </p:sp>
      <p:sp>
        <p:nvSpPr>
          <p:cNvPr id="78" name="Google Shape;78;p15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Tirar o hub do papel, com a primeira fase no ar em dezembro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Conceito do hub, roadmap, telas da Fase 1 no Figma e acompanhamento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1:  Imersão e leitura do ecossistema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Estudo de agosto como base: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leitura das entrevistas, das sugestões e da estratégia, sem refazer o que já foi ouvido.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Novos perfis: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entrevistas remotas com até 6 consultores dos perfis que faltam (rodovia, vários estados, carteira grande) e o acompanhamento de uma visita a posto no Rio de Janeiro.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Dados de uso: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logs da Stringhini: tempo de execução, reaberturas por checklist, uso offline, dispositivos e buscas.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Leitura do ecossistema: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entra no hub, o que aparece em resumo e o que leva a um canal especialista: visitas, dashboards de Trade, Clube do Milhão, Clube VIP, Ipiranga Mais e treinamentos.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Leitura técnica: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a Stringhini, o que o PWA, o modo offline e as bases atuais permitem, incluindo os dados do posto.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Completar o retrato da rotina e mapear o ecossistema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Jornada atual, mapa do ecossistema e oportunidades priorizadas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 semanas · 48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2:  Arquitetura, conceito do hub e faseamento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Arquitetura da informação: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organização de rotina, carteira, posto, execução, visitas, conhecimento e acessos, incluindo a central "Posso Ajudar?" segmentada por tema.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Conceito da home: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 a home mostra o contexto do dia, os postos próximos, o resumo recente, as prioridades, o botão de iniciar a execução e os acessos rápidos.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Faseamento com a Stringhini: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impacto e esforço de cada jornada, separando o que entra em dezembro do que fica para 2027.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Escopo da Fase 1 e roadmap 2027: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telas e fluxos fechados, com critérios de aceite, e as próximas fases em ordem.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Material de defesa: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apresentação para a Ipiranga levar às áreas envolvidas.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Transformar a estratégia em um conceito que a Ipiranga possa defender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Arquitetura, conceito do hub, escopo da Fase 1 e roadmap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 semana · 40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3:  Jornadas da Fase 1 em duas ondas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Onda 1, organizar e localizar: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 do hub com "Minha carteira" e o ritmo diário para fechar o quadrimestre, postos próximos com busca manual no mesmo espaço, carteira em mapa e lista com status e marcas, e acessos rápidos.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Onda 2, preparar e executar: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resumo do posto com dados, última visita e pendências; checklist com o guia na própria pergunta, progresso e foto anexada depois; relatório enviado do app e status da auditoria.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Estados de campo: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sem localização, sem conexão e sincronização pendente previstos em cada fluxo.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Fluxo antes da tela: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onda passa por fluxo e wireframe validados com a Ipiranga e a Stringhini antes da camada visual.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Redesenhar as jornadas que comprovam o valor do hub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Fluxos e wireframes das duas ondas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 semanas · 72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4:  Interface e UI kit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Interface: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telas finais das duas ondas no Figma, mobile first e com a versão para notebook, incluindo estados de vazio, erro, carregamento e offline.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Continuidade visual: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linguagem alinhada às ferramentas mais recentes da Coordenação, sem criar uma identidade nova.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UI kit: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componentes, cores, tipografia, ícones, pins do mapa e gráficos documentados e adaptados às bibliotecas que a Stringhini já usa.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Protótipo navegável: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das jornadas principais, usado nos testes com consultores e na apresentação interna.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Transformar os fluxos em telas prontas para implementar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Telas no Figma, UI kit e protótipo navegável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 semanas · 96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Próximas fases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Candidatos ao roadmap 2027, o horizonte de evolução da estratégia, a confirmar na Frente 2 e orçados à parte: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Pendências e planos de ação: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responsável, prazo e acompanhamento entre visitas, no lugar das planilhas que os times mantêm hoje.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Principais ofensores por grupo: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consolidação dos problemas dos postos visitados, para preparar pedidos de material e a conversa com o revendedor.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Dados comerciais no resumo do posto: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Ipiranga Mais, KMV, Jet Oil e Clube do Milhão, conforme a maturidade das integrações.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Validação de evidências: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análise automática das fotos, online e após a sincronização offline.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Comunicação automática de resultados: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aviso de auditoria e contestação, inclusive por WhatsApp, e registro de oportunidades comerciais.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Visão do coordenador e assistente do guia: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dashboard no celular com filtro por consultor de negócios e busca em linguagem natural no conteúdo.</a:t>
            </a:r>
            <a:endParaRPr sz="95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Deixar o caminho de 2027 desenhado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Fases priorizadas no roadmap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partir de janeiro de 2027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Definições para iniciar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Pontos que precisamos alinhar com vocês antes do kickoff: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Acessos: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usuários em homologação com os perfis de consultor, auditor e gestor, e acesso aos logs e ao dashboard.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Dados do posto: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quais informações (galonagem, Ipiranga Mais, mix, marcas, responsável) a Stringhini consegue trazer até dezembro.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Canais especialistas: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 de dashboards e plataformas que entram nos acessos rápidos, com os links e as regras de acesso.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Campo: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contato dos consultores para as entrevistas e os testes, e a visita a posto que vamos acompanhar.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Prazo de dezembro: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de corte da implementação e janela de publicação, para fechar o tamanho da Fase 1.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Destravar o kickoff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Acessos, dados disponíveis e agenda de campo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Antes da Frente 1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Requisitos fora de 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70000" y="1170575"/>
            <a:ext cx="82000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Itens não contemplados nesta proposta, que podem ser orçados separadamente: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Desenvolvimento, testes de código e publicação do app, e a integração de novas bases de dados, que seguem com a Stringhini.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Revisão do conteúdo, da ordem das perguntas e das regras de pontuação dos checklists, conduzida pela Ipiranga com a Stringhini. O redesign prevê na interface a organização por setor do posto.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Execução das fases do roadmap 2027, orçadas separadamente.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Pesquisa quantitativa e visitas de campo fora do Rio de Janeiro. Deslocamentos, se necessários, a custo e com aprovação prévia.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Produção de conteúdo para o Guia de Execução e a central de conhecimento.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Licenças de ferramentas de terceiros, como analytics, gravação de sessão ou WhatsApp Business API.</a:t>
            </a:r>
            <a:endParaRPr sz="1100"/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478550" y="1467050"/>
            <a:ext cx="80232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Nosso Processo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70776" y="377700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Metodologia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Cocriação com a Ipiranga e a Stringhini, sem gargalo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Reunião semanal e grupo direto entre os times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 semanas · inclui 32 horas de gestão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2650000" y="1180000"/>
            <a:ext cx="440000" cy="44000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2870000" y="162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68" name="TextBox 167"/>
          <p:cNvSpPr txBox="1"/>
          <p:nvPr/>
        </p:nvSpPr>
        <p:spPr>
          <a:xfrm>
            <a:off x="3300000" y="119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Imersão e ecossistema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Kickoff com a Ipiranga e a Stringhini, leitura do estudo de agosto, dos dados de uso e novas conversas com o campo.</a:t>
            </a:r>
          </a:p>
        </p:txBody>
      </p:sp>
      <p:sp>
        <p:nvSpPr>
          <p:cNvPr id="169" name="Oval 168"/>
          <p:cNvSpPr/>
          <p:nvPr/>
        </p:nvSpPr>
        <p:spPr>
          <a:xfrm>
            <a:off x="2650000" y="2000000"/>
            <a:ext cx="440000" cy="440000"/>
          </a:xfrm>
          <a:prstGeom prst="ellipse">
            <a:avLst/>
          </a:prstGeom>
          <a:solidFill>
            <a:srgbClr val="FF1F8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2870000" y="244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71" name="TextBox 170"/>
          <p:cNvSpPr txBox="1"/>
          <p:nvPr/>
        </p:nvSpPr>
        <p:spPr>
          <a:xfrm>
            <a:off x="3300000" y="201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Conceito do hub e faseamento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Arquitetura, conceito da home e escopo da Fase 1 fechados com a Ipiranga e validados tecnicamente com a Stringhini.</a:t>
            </a:r>
          </a:p>
        </p:txBody>
      </p:sp>
      <p:sp>
        <p:nvSpPr>
          <p:cNvPr id="172" name="Oval 171"/>
          <p:cNvSpPr/>
          <p:nvPr/>
        </p:nvSpPr>
        <p:spPr>
          <a:xfrm>
            <a:off x="2650000" y="2820000"/>
            <a:ext cx="440000" cy="440000"/>
          </a:xfrm>
          <a:prstGeom prst="ellipse">
            <a:avLst/>
          </a:prstGeom>
          <a:solidFill>
            <a:srgbClr val="6E5BD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2870000" y="326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74" name="TextBox 173"/>
          <p:cNvSpPr txBox="1"/>
          <p:nvPr/>
        </p:nvSpPr>
        <p:spPr>
          <a:xfrm>
            <a:off x="3300000" y="283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Design em duas ondas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Fluxo, wireframe e interface em ciclos semanais, com validação de cada onda com consultores.</a:t>
            </a:r>
          </a:p>
        </p:txBody>
      </p:sp>
      <p:sp>
        <p:nvSpPr>
          <p:cNvPr id="175" name="Oval 174"/>
          <p:cNvSpPr/>
          <p:nvPr/>
        </p:nvSpPr>
        <p:spPr>
          <a:xfrm>
            <a:off x="2650000" y="3640000"/>
            <a:ext cx="440000" cy="440000"/>
          </a:xfrm>
          <a:prstGeom prst="ellipse">
            <a:avLst/>
          </a:prstGeom>
          <a:solidFill>
            <a:srgbClr val="3A56E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300000" y="365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Entrega e acompanhamento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Passagem por onda para a Stringhini e revisão da implementação em homologação até dezembro.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Roadmap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538577" y="1449410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 de Execução, Fase 1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538577" y="19066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475550" y="19650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408547" y="2585625"/>
            <a:ext cx="1526400" cy="14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Um cronograma mais detalhado será criado no início de cada bloco do projeto e seu acompanhamento será feito utilizando a metodologia Ágil com entregas e devolutivas constantes.</a:t>
            </a:r>
            <a:endParaRPr sz="7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538577" y="2121845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1" name="TextBox 301"/>
          <p:cNvSpPr txBox="1"/>
          <p:nvPr/>
        </p:nvSpPr>
        <p:spPr>
          <a:xfrm>
            <a:off x="4550000" y="1300000"/>
            <a:ext cx="1433333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Outubro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5983333" y="1300000"/>
            <a:ext cx="1433333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Novembro</a:t>
            </a:r>
          </a:p>
        </p:txBody>
      </p:sp>
      <p:cxnSp>
        <p:nvCxnSpPr>
          <p:cNvPr id="303" name="Connector 303"/>
          <p:cNvCxnSpPr/>
          <p:nvPr/>
        </p:nvCxnSpPr>
        <p:spPr>
          <a:xfrm>
            <a:off x="5983333" y="1560000"/>
            <a:ext cx="0" cy="2580000"/>
          </a:xfrm>
          <a:prstGeom prst="line">
            <a:avLst/>
          </a:prstGeom>
          <a:ln w="9525">
            <a:solidFill>
              <a:srgbClr val="E3E3EA"/>
            </a:solidFill>
          </a:ln>
          <a:effectLst/>
        </p:spPr>
      </p:cxnSp>
      <p:sp>
        <p:nvSpPr>
          <p:cNvPr id="304" name="TextBox 304"/>
          <p:cNvSpPr txBox="1"/>
          <p:nvPr/>
        </p:nvSpPr>
        <p:spPr>
          <a:xfrm>
            <a:off x="7416666" y="1300000"/>
            <a:ext cx="1433333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Dezembro</a:t>
            </a:r>
          </a:p>
        </p:txBody>
      </p:sp>
      <p:cxnSp>
        <p:nvCxnSpPr>
          <p:cNvPr id="305" name="Connector 305"/>
          <p:cNvCxnSpPr/>
          <p:nvPr/>
        </p:nvCxnSpPr>
        <p:spPr>
          <a:xfrm>
            <a:off x="7416666" y="1560000"/>
            <a:ext cx="0" cy="2580000"/>
          </a:xfrm>
          <a:prstGeom prst="line">
            <a:avLst/>
          </a:prstGeom>
          <a:ln w="9525">
            <a:solidFill>
              <a:srgbClr val="E3E3EA"/>
            </a:solidFill>
          </a:ln>
          <a:effectLst/>
        </p:spPr>
      </p:cxnSp>
      <p:sp>
        <p:nvSpPr>
          <p:cNvPr id="306" name="TextBox 306"/>
          <p:cNvSpPr txBox="1"/>
          <p:nvPr/>
        </p:nvSpPr>
        <p:spPr>
          <a:xfrm>
            <a:off x="2450000" y="164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Frente 1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Imersão e ecossistema</a:t>
            </a:r>
          </a:p>
        </p:txBody>
      </p:sp>
      <p:sp>
        <p:nvSpPr>
          <p:cNvPr id="307" name="Rounded Rectangle 307"/>
          <p:cNvSpPr/>
          <p:nvPr/>
        </p:nvSpPr>
        <p:spPr>
          <a:xfrm>
            <a:off x="4734946" y="1780000"/>
            <a:ext cx="554838" cy="13000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8" name="Connector 308"/>
          <p:cNvCxnSpPr/>
          <p:nvPr/>
        </p:nvCxnSpPr>
        <p:spPr>
          <a:xfrm>
            <a:off x="2450000" y="204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309" name="TextBox 309"/>
          <p:cNvSpPr txBox="1"/>
          <p:nvPr/>
        </p:nvSpPr>
        <p:spPr>
          <a:xfrm>
            <a:off x="2450000" y="206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Frente 2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Conceito do hub e faseamento</a:t>
            </a:r>
          </a:p>
        </p:txBody>
      </p:sp>
      <p:sp>
        <p:nvSpPr>
          <p:cNvPr id="310" name="Rounded Rectangle 310"/>
          <p:cNvSpPr/>
          <p:nvPr/>
        </p:nvSpPr>
        <p:spPr>
          <a:xfrm>
            <a:off x="5382257" y="2200000"/>
            <a:ext cx="231182" cy="130000"/>
          </a:xfrm>
          <a:prstGeom prst="roundRect">
            <a:avLst>
              <a:gd name="adj" fmla="val 50000"/>
            </a:avLst>
          </a:prstGeom>
          <a:solidFill>
            <a:srgbClr val="3A5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1" name="Connector 311"/>
          <p:cNvCxnSpPr/>
          <p:nvPr/>
        </p:nvCxnSpPr>
        <p:spPr>
          <a:xfrm>
            <a:off x="2450000" y="246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312" name="TextBox 312"/>
          <p:cNvSpPr txBox="1"/>
          <p:nvPr/>
        </p:nvSpPr>
        <p:spPr>
          <a:xfrm>
            <a:off x="2450000" y="248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Onda 1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Organizar e localizar</a:t>
            </a:r>
          </a:p>
        </p:txBody>
      </p:sp>
      <p:sp>
        <p:nvSpPr>
          <p:cNvPr id="313" name="Rounded Rectangle 313"/>
          <p:cNvSpPr/>
          <p:nvPr/>
        </p:nvSpPr>
        <p:spPr>
          <a:xfrm>
            <a:off x="5705913" y="2620000"/>
            <a:ext cx="564085" cy="130000"/>
          </a:xfrm>
          <a:prstGeom prst="roundRect">
            <a:avLst>
              <a:gd name="adj" fmla="val 50000"/>
            </a:avLst>
          </a:prstGeom>
          <a:solidFill>
            <a:srgbClr val="FF1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4" name="Connector 314"/>
          <p:cNvCxnSpPr/>
          <p:nvPr/>
        </p:nvCxnSpPr>
        <p:spPr>
          <a:xfrm>
            <a:off x="2450000" y="288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315" name="TextBox 315"/>
          <p:cNvSpPr txBox="1"/>
          <p:nvPr/>
        </p:nvSpPr>
        <p:spPr>
          <a:xfrm>
            <a:off x="2450000" y="290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Onda 2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Preparar e executar</a:t>
            </a:r>
          </a:p>
        </p:txBody>
      </p:sp>
      <p:sp>
        <p:nvSpPr>
          <p:cNvPr id="316" name="Rounded Rectangle 316"/>
          <p:cNvSpPr/>
          <p:nvPr/>
        </p:nvSpPr>
        <p:spPr>
          <a:xfrm>
            <a:off x="6365555" y="3040000"/>
            <a:ext cx="573333" cy="130000"/>
          </a:xfrm>
          <a:prstGeom prst="roundRect">
            <a:avLst>
              <a:gd name="adj" fmla="val 50000"/>
            </a:avLst>
          </a:prstGeom>
          <a:solidFill>
            <a:srgbClr val="6E5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7" name="Connector 317"/>
          <p:cNvCxnSpPr/>
          <p:nvPr/>
        </p:nvCxnSpPr>
        <p:spPr>
          <a:xfrm>
            <a:off x="2450000" y="330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318" name="TextBox 318"/>
          <p:cNvSpPr txBox="1"/>
          <p:nvPr/>
        </p:nvSpPr>
        <p:spPr>
          <a:xfrm>
            <a:off x="2450000" y="332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Validação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Consultores, uma rodada por onda</a:t>
            </a:r>
          </a:p>
        </p:txBody>
      </p:sp>
      <p:sp>
        <p:nvSpPr>
          <p:cNvPr id="319" name="Rounded Rectangle 319"/>
          <p:cNvSpPr/>
          <p:nvPr/>
        </p:nvSpPr>
        <p:spPr>
          <a:xfrm>
            <a:off x="6126666" y="3460000"/>
            <a:ext cx="143333" cy="13000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ounded Rectangle 320"/>
          <p:cNvSpPr/>
          <p:nvPr/>
        </p:nvSpPr>
        <p:spPr>
          <a:xfrm>
            <a:off x="6795555" y="3460000"/>
            <a:ext cx="143333" cy="13000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1" name="Connector 321"/>
          <p:cNvCxnSpPr/>
          <p:nvPr/>
        </p:nvCxnSpPr>
        <p:spPr>
          <a:xfrm>
            <a:off x="2450000" y="372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322" name="TextBox 322"/>
          <p:cNvSpPr txBox="1"/>
          <p:nvPr/>
        </p:nvSpPr>
        <p:spPr>
          <a:xfrm>
            <a:off x="2450000" y="374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Stringhini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Implementação e revisão</a:t>
            </a:r>
          </a:p>
        </p:txBody>
      </p:sp>
      <p:sp>
        <p:nvSpPr>
          <p:cNvPr id="323" name="Rounded Rectangle 323"/>
          <p:cNvSpPr/>
          <p:nvPr/>
        </p:nvSpPr>
        <p:spPr>
          <a:xfrm>
            <a:off x="6365555" y="3880000"/>
            <a:ext cx="1883368" cy="13000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000" y="4220000"/>
            <a:ext cx="6400000" cy="30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Datas contadas a partir de um kickoff em 5 de outubro. A implementação é conduzida pela Stringhini.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"/>
            <a:ext cx="91440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478554" y="1467053"/>
            <a:ext cx="54009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Investimento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470776" y="377700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9138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205202" y="274344"/>
            <a:ext cx="134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211479" y="550915"/>
            <a:ext cx="224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Marcos de pagamento apresentados em detalhe ao lado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205202" y="1112544"/>
            <a:ext cx="134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Atendimento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200025" y="1373200"/>
            <a:ext cx="2047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Fattoria e seu time operam dentro do horário comercial  de 2ª a 6ª feira, de 9 às 18h, operações fora do padrão acarretam em custos extras que precisam ser previamente acordados por ambas as partes antes da execução.</a:t>
            </a:r>
            <a:endParaRPr sz="7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195674" y="2560350"/>
            <a:ext cx="20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Impostos e Taxas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190500" y="2821000"/>
            <a:ext cx="2047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Os valores apresentados já contemplam impostos e tributos.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95674" y="3474750"/>
            <a:ext cx="20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Validade da proposta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190500" y="3735400"/>
            <a:ext cx="204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30 dias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3165700" y="405350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Consultoria e redesign do App de Execução</a:t>
            </a:r>
            <a:br>
              <a:rPr lang="en" sz="1000" b="1">
                <a:latin typeface="Poppins"/>
                <a:ea typeface="Poppins"/>
                <a:cs typeface="Poppins"/>
                <a:sym typeface="Poppins"/>
              </a:rPr>
            </a:br>
            <a:r>
              <a:rPr lang="en" sz="700">
                <a:latin typeface="Poppins"/>
                <a:ea typeface="Poppins"/>
                <a:cs typeface="Poppins"/>
                <a:sym typeface="Poppins"/>
              </a:rPr>
              <a:t>352 horas: imersão, conceito do hub, Fase 1 e acompanhamento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6802325" y="405336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R$ 70.400,00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05" name="Google Shape;205;p23"/>
          <p:cNvCxnSpPr/>
          <p:nvPr/>
        </p:nvCxnSpPr>
        <p:spPr>
          <a:xfrm>
            <a:off x="3248865" y="1046680"/>
            <a:ext cx="50127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" name="Google Shape;206;p23"/>
          <p:cNvSpPr txBox="1"/>
          <p:nvPr/>
        </p:nvSpPr>
        <p:spPr>
          <a:xfrm>
            <a:off x="3170000" y="1234300"/>
            <a:ext cx="5024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>Condições de pagamento: 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divididas em marcos de entrega.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3165700" y="1624543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Assinatura da proposta (30%)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6802325" y="1624543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R$ 21.120,00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3165700" y="1966800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Entrega do conceito do hub e do faseamento (30%)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6802325" y="1966800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R$ 21.120,00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3165700" y="2303029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Entrega das telas da onda 2 (40%)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6802325" y="2303029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R$ 28.160,00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ouvimos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 estudo com 9 consultores e coordenadores (agosto) e das reuniões de 18/09: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Carteira fora do app: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mapa no Spoke, no My Maps, no KMV ou no Google Maps, e a meta de 100% no quadrimestre controlada no caderno, com a média diária calculada à mão.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Home passiva: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funcionalidades com o mesmo peso, sem dizer o que falta visitar, o que está perto ou o que pede atenção.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Posto sem contexto: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galonagem, Ipiranga Mais, mix, Jet Oil, AmPm, responsável e última visita espalhados em outras bases.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Checklist: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ordem por pilar que não segue o deslocamento no posto (crítico na rodovia), guia fora do fluxo e fotos que levam a visita a 30 ou 45 minutos.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Pós-visita: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PDF, planilha e e-mail montados um posto por vez para o consultor de negócios e o revendedor, sem saber se a auditoria já passou.</a:t>
            </a:r>
            <a:endParaRPr sz="95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9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Conhecimento: </a:t>
            </a:r>
            <a:r>
              <a:rPr lang="pt-BR" sz="9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"Posso Ajudar?" como uma lista longa, com temas como o Ipiranga Mais espalhados em entradas soltas.</a:t>
            </a:r>
            <a:endParaRPr sz="95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Partir da rotina real do consultor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Base do trabalho, a aprofundar na Frente 1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Levantado entre agosto e setembro de 2026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5:  Validação, entrega e acompanhamento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Validação com consultores: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rodada por onda, remota, com 5 consultores urbanos e de rodovia e o protótipo, e os ajustes que ela apontar.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Entrega para a Stringhini: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telas anotadas, especificação de componentes e comportamentos, e uma sessão de passagem por onda.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Acompanhamento da implementação: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revisão das telas em homologação e canal direto entre design e desenvolvimento até 18 de dezembro.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Sinais de sucesso: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a Stringhini, os registros que medem o antes e o depois: tempo entre abrir o app e iniciar a execução, duração da visita e uso dos acessos rápidos.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Levar o desenho à implementação sem perder o que foi validado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Validação, entrega por onda e revisão em homologação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 semanas · 64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Como respondemos à estratégia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etapas que o documento de estratégia pede ao parceiro e onde cada uma está nesta proposta: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Imersão na rotina e leitura do ecossistema: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1.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Arquitetura da informação e conceito de home: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2, partindo dos conceitos já desenhados no estudo de agosto.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Viabilidade e faseamento: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2, com a Stringhini, fechando o que vai para dezembro e o que fica para 2027.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Jornadas prioritárias: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Frentes 3 e 4, começando pelas quatro capacidades da primeira versão do hub: organizar a rotina, localizar postos, iniciar a execução e acessar os recursos prioritários.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Validação com usuários: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5, com consultores urbanos e de rodovia.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Premissas mantidas: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mobile first, offline como realidade, integração sem duplicar os canais especialistas e ação antes de informação.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Seguir a direção que a Ipiranga já definiu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Etapas da estratégia distribuídas nas cinco frentes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</Words>
  <Application>Microsoft Macintosh PowerPoint</Application>
  <PresentationFormat>Apresentação na tela (16:9)</PresentationFormat>
  <Paragraphs>116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Poppins SemiBold</vt:lpstr>
      <vt:lpstr>Poppins Light</vt:lpstr>
      <vt:lpstr>Arial</vt:lpstr>
      <vt:lpstr>Poppins</vt:lpstr>
      <vt:lpstr>Poppins Medium</vt:lpstr>
      <vt:lpstr>Poppins ExtraLight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Castelo Branco</cp:lastModifiedBy>
  <cp:revision>1</cp:revision>
  <dcterms:modified xsi:type="dcterms:W3CDTF">2026-06-16T23:33:24Z</dcterms:modified>
</cp:coreProperties>
</file>