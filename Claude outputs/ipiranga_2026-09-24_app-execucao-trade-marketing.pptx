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3"/>
    <p:sldId id="257" r:id="rId4"/>
    <p:sldId id="258" r:id="rId5"/>
    <p:sldId id="272" r:id="rId36"/>
    <p:sldId id="259" r:id="rId6"/>
    <p:sldId id="268" r:id="rId32"/>
    <p:sldId id="269" r:id="rId33"/>
    <p:sldId id="270" r:id="rId34"/>
    <p:sldId id="273" r:id="rId37"/>
    <p:sldId id="260" r:id="rId7"/>
    <p:sldId id="271" r:id="rId35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Poppins ExtraLight" pitchFamily="2" charset="77"/>
      <p:regular r:id="rId19"/>
    </p:embeddedFont>
    <p:embeddedFont>
      <p:font typeface="Poppins Light" pitchFamily="2" charset="77"/>
      <p:regular r:id="rId20"/>
      <p:italic r:id="rId21"/>
    </p:embeddedFont>
    <p:embeddedFont>
      <p:font typeface="Poppins Medium" pitchFamily="2" charset="77"/>
      <p:regular r:id="rId22"/>
      <p: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46" d="100"/>
          <a:sy n="146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8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schemas.openxmlformats.org/officeDocument/2006/relationships/font" Target="fonts/font11.fntdata"/><Relationship Id="rId26" Type="http://schemas.openxmlformats.org/officeDocument/2006/relationships/font" Target="fonts/font12.fntdata"/><Relationship Id="rId27" Type="http://schemas.openxmlformats.org/officeDocument/2006/relationships/font" Target="fonts/font13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9.xml"/>  <Relationship Id="rId36" Type="http://schemas.openxmlformats.org/officeDocument/2006/relationships/slide" Target="slides/slide16.xml"/>
  <Relationship Id="rId37" Type="http://schemas.openxmlformats.org/officeDocument/2006/relationships/slide" Target="slides/slide17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688ee2c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688ee2c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688ee2c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688ee2c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688ee2c2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688ee2c2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5ff822d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5ff822d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a5ff822df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a5ff822df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a5ff822d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a5ff822d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688ee2c2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688ee2c2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688ee2c2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688ee2c2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3688ee2c2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3688ee2c2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688ee2c2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3688ee2c2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688ee2c2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3688ee2c2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29200" y="2165506"/>
            <a:ext cx="809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Consultoria e redesign da experiência do app de Trade Marketing, com um norte para 2027 e a primeira fase no ar em dezembro</a:t>
            </a:r>
            <a:endParaRPr sz="1800"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12875" y="4395375"/>
            <a:ext cx="6045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07423" y="3633375"/>
            <a:ext cx="2321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Ipiranga · Julio Araujo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493419" y="3633375"/>
            <a:ext cx="36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Consultoria e UX/UI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159" y="4395377"/>
            <a:ext cx="12373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529400" y="1040256"/>
            <a:ext cx="8177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App de Execução</a:t>
            </a:r>
            <a:endParaRPr sz="4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78548" y="1467050"/>
            <a:ext cx="7391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70766" y="377703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Cenário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630825" y="1170575"/>
            <a:ext cx="61572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App de Execução é a ferramenta de campo dos consultores de Trade Marketing da Ipiranga, um PWA que funciona offline no celular Android e no notebook, desenvolvido e mantido pela Stringhini. Cada consultor recebe a carteira do ciclo, com uma tarefa por posto para cumprir em quatro meses, e preenche checklists que depois passam por auditoria.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ferramenta foi construída a partir das necessidades do negócio, e as conversas com consultores e coordenadores mostram o custo disso na rotina: carteira sem mapa nem planejamento, informação do posto espalhada, relatório com etapas manuais e pouca visibilidade sobre a auditoria.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Ipiranga quer que o app seja o apoio do consultor no dia a dia, com um projeto para apresentar e defender e a primeira fase implementada em dezembro. Propomos conduzir a consultoria e o redesign da experiência junto com a Stringhini, que segue responsável pela implementação.</a:t>
            </a:r>
            <a:endParaRPr sz="1100"/>
          </a:p>
        </p:txBody>
      </p:sp>
      <p:sp>
        <p:nvSpPr>
          <p:cNvPr id="78" name="Google Shape;78;p15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Um norte para o app e a primeira fase redesenhada e no ar em dezembro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Diagnóstico, roadmap, telas da Fase 1 no Figma e acompanhamento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1:  Imersão e diagnóstico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Materiais e dados: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estratégia do app, sugestões levantadas com consultores e logs da Stringhini: dispositivos, tempo de execução, reaberturas por checklist e uso offline.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Análise do produto: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avaliação heurística das jornadas do consultor, do auditor e do gestor, no celular e no notebook.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Conversas com o campo: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entrevistas remotas com até 6 consultores e 2 coordenadores, e o acompanhamento de uma visita a posto no Rio de Janeiro.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Leitura técnica com a Stringhini: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o PWA, o modo offline e as bibliotecas atuais permitem, para o desenho nascer dentro do possível.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Diagnóstico: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jornada atual, dores priorizadas e oportunidades, cruzando a visão do negócio com a do usuário.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Entender a rotina do consultor e os limites da plataforma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Diagnóstico com jornada atual, dores e oportunidades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 semanas · 56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2:  Visão de produto e roadmap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Visão do app: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papel da ferramenta na rotina do consultor, do coordenador e do gestor, e a relação com os outros canais digitais da Coordenação.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Priorização: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matriz de impacto e esforço montada com a Stringhini, separando o que entra em dezembro do que fica para 2027.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Escopo da Fase 1: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 fechada de telas e fluxos, com critérios de aceite.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Roadmap 2027: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próximas fases com objetivo, dependências e ordem sugerida.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Material de defesa: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apresentação para a Ipiranga levar às áreas envolvidas.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Dar ao app um norte que a Ipiranga possa apresentar e defender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Visão, escopo da Fase 1, roadmap 2027 e apresentação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 semana · 32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3:  Redesign da Fase 1 em duas ondas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Onda 1, carteira e posto: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 com "Minha carteira" e indicadores do ciclo, postos próximos por geolocalização, carteira em mapa e lista, busca com menos cliques e o resumo do posto com nota, histórico, pendências e status da auditoria.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Onda 2, visita e resultado: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checklist na ordem da visita, com progresso, perguntas obrigatórias sinalizadas e o guia dentro do fluxo; relatório para visualizar e compartilhar, auditoria, contestação e notificações.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Fluxo antes da tela: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onda passa por fluxo e wireframe validados com a Ipiranga e a Stringhini antes da camada visual.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Escopo ajustável: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lista final sai da Frente 2; um item novo, como o registro de oportunidades, entra no lugar de outro de mesmo tamanho.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Redesenhar a rotina de campo do consultor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Fluxos e wireframes das duas ondas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 · 72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4:  Interface e UI kit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Interface: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telas finais das duas ondas no Figma, para celular e notebook, com estados de vazio, erro, carregamento e modo offline.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Continuidade visual: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linguagem alinhada às ferramentas mais recentes da Coordenação, sem criar uma identidade nova.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UI kit: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componentes, cores, tipografia, ícones e gráficos documentados e adaptados às bibliotecas que a Stringhini já usa.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Protótipo navegável: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 jornadas principais, usado nos testes com consultores e na apresentação interna.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Transformar os fluxos em telas prontas para implementar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Telas no Figma, UI kit e protótipo navegável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 semanas · 96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Próximas fases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Candidatos ao roadmap 2027, a confirmar na Frente 2 e orçados à parte: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Dashboard no celular: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visão de execução do coordenador e do gestor redesenhada para o celular, com os postos excelentes e críticos em destaque.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Registro de oportunidades: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novo tipo de tarefa para o consultor registrar expansão de valor, inaugurações e outras ações comerciais.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Assistente do guia: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busca em linguagem natural sobre a central de conhecimento, com o conteúdo ligado a cada item do checklist.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Validação de fotos: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análise automática das imagens da visita para apoiar a auditoria.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Notificações por WhatsApp: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mensagens padronizadas de auditoria e contestação no canal que o campo já usa.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Sincronização contínua: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continuar uma visita em outro aparelho sem perder o que foi preenchido.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Deixar o caminho de 2027 desenhado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Fases priorizadas no roadmap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partir de janeiro de 2027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Definições para iniciar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Pontos que precisamos alinhar com vocês antes do kickoff: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Acessos: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usuários em homologação com os perfis de consultor, auditor e gestor, e acesso aos logs e ao dashboard.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Campo: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contato de consultores e coordenadores para as entrevistas e os testes, e a visita a posto que vamos acompanhar.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Materiais: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estratégia do app, formulário do registro de oportunidades e o padrão visual das ferramentas da Coordenação.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Limites técnicos: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a Stringhini, as bibliotecas de front-end e de gráficos em uso e o que o modo offline não permite.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Prazo de dezembro: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de corte da implementação e janela de publicação, para fechar o tamanho da Fase 1.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Destravar o kickoff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Acessos, agenda de campo e limites técnicos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Antes da Frente 1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379826" y="340625"/>
            <a:ext cx="830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Requisitos fora de 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70000" y="1170575"/>
            <a:ext cx="82000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Itens não contemplados nesta proposta, que podem ser orçados separadamente: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Desenvolvimento, testes de código e publicação do app, que seguem com a Stringhini.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Execução das fases do roadmap 2027, orçadas separadamente.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Pesquisa quantitativa e visitas de campo fora do Rio de Janeiro. Deslocamentos, se necessários, a custo e com aprovação prévia.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Produção de conteúdo para a central de conhecimento e revisão dos checklists e das regras de pontuação.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Licenças de ferramentas de terceiros, como analytics, gravação de sessão ou WhatsApp Business API.</a:t>
            </a:r>
            <a:endParaRPr sz="1100"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478550" y="1467050"/>
            <a:ext cx="8023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Nosso Processo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Metodologia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Cocriação com a Ipiranga e a Stringhini, sem gargalo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Reunião semanal e grupo direto entre os times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 semanas · inclui 32 horas de gestão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2650000" y="1180000"/>
            <a:ext cx="440000" cy="44000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2870000" y="162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3300000" y="119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Imersão com o campo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Kickoff com a Ipiranga e a Stringhini, leitura dos dados e conversas com consultores e coordenadores.</a:t>
            </a:r>
          </a:p>
        </p:txBody>
      </p:sp>
      <p:sp>
        <p:nvSpPr>
          <p:cNvPr id="169" name="Oval 168"/>
          <p:cNvSpPr/>
          <p:nvPr/>
        </p:nvSpPr>
        <p:spPr>
          <a:xfrm>
            <a:off x="2650000" y="2000000"/>
            <a:ext cx="440000" cy="440000"/>
          </a:xfrm>
          <a:prstGeom prst="ellipse">
            <a:avLst/>
          </a:prstGeom>
          <a:solidFill>
            <a:srgbClr val="FF1F8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870000" y="244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1" name="TextBox 170"/>
          <p:cNvSpPr txBox="1"/>
          <p:nvPr/>
        </p:nvSpPr>
        <p:spPr>
          <a:xfrm>
            <a:off x="3300000" y="201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Norte e prioridades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Visão do app, roadmap e escopo da Fase 1 fechados com a Ipiranga e validados tecnicamente com a Stringhini.</a:t>
            </a:r>
          </a:p>
        </p:txBody>
      </p:sp>
      <p:sp>
        <p:nvSpPr>
          <p:cNvPr id="172" name="Oval 171"/>
          <p:cNvSpPr/>
          <p:nvPr/>
        </p:nvSpPr>
        <p:spPr>
          <a:xfrm>
            <a:off x="2650000" y="2820000"/>
            <a:ext cx="440000" cy="440000"/>
          </a:xfrm>
          <a:prstGeom prst="ellipse">
            <a:avLst/>
          </a:prstGeom>
          <a:solidFill>
            <a:srgbClr val="6E5BD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2870000" y="3260000"/>
            <a:ext cx="0" cy="380000"/>
          </a:xfrm>
          <a:prstGeom prst="line">
            <a:avLst/>
          </a:prstGeom>
          <a:ln w="12700">
            <a:solidFill>
              <a:srgbClr val="D0D0DA"/>
            </a:solidFill>
            <a:prstDash val="dash"/>
          </a:ln>
          <a:effectLst/>
        </p:spPr>
      </p:cxnSp>
      <p:sp>
        <p:nvSpPr>
          <p:cNvPr id="174" name="TextBox 173"/>
          <p:cNvSpPr txBox="1"/>
          <p:nvPr/>
        </p:nvSpPr>
        <p:spPr>
          <a:xfrm>
            <a:off x="3300000" y="283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Design em duas ondas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Fluxo, wireframe e interface em ciclos semanais, com teste de cada onda com consultores.</a:t>
            </a:r>
          </a:p>
        </p:txBody>
      </p:sp>
      <p:sp>
        <p:nvSpPr>
          <p:cNvPr id="175" name="Oval 174"/>
          <p:cNvSpPr/>
          <p:nvPr/>
        </p:nvSpPr>
        <p:spPr>
          <a:xfrm>
            <a:off x="2650000" y="3640000"/>
            <a:ext cx="440000" cy="440000"/>
          </a:xfrm>
          <a:prstGeom prst="ellipse">
            <a:avLst/>
          </a:prstGeom>
          <a:solidFill>
            <a:srgbClr val="3A56E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300000" y="3650000"/>
            <a:ext cx="5300000" cy="65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Poppins"/>
              </a:rPr>
              <a:t>Entrega e acompanhamento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Poppins"/>
              </a:rPr>
              <a:t>Passagem por onda para a Stringhini e revisão da implementação em homologação até dezembro.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379828" y="340625"/>
            <a:ext cx="3345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Roadmap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538577" y="1449410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 de Execução, Fase 1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38577" y="19066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475550" y="19650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08547" y="2585625"/>
            <a:ext cx="1526400" cy="14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Um cronograma mais detalhado será criado no início de cada bloco do projeto e seu acompanhamento será feito utilizando a metodologia Ágil com entregas e devolutivas constantes.</a:t>
            </a:r>
            <a:endParaRPr sz="7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538577" y="2121845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 semanas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1" name="TextBox 301"/>
          <p:cNvSpPr txBox="1"/>
          <p:nvPr/>
        </p:nvSpPr>
        <p:spPr>
          <a:xfrm>
            <a:off x="4550000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Outubro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5983333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Novembro</a:t>
            </a:r>
          </a:p>
        </p:txBody>
      </p:sp>
      <p:cxnSp>
        <p:nvCxnSpPr>
          <p:cNvPr id="303" name="Connector 303"/>
          <p:cNvCxnSpPr/>
          <p:nvPr/>
        </p:nvCxnSpPr>
        <p:spPr>
          <a:xfrm>
            <a:off x="5983333" y="1560000"/>
            <a:ext cx="0" cy="258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304" name="TextBox 304"/>
          <p:cNvSpPr txBox="1"/>
          <p:nvPr/>
        </p:nvSpPr>
        <p:spPr>
          <a:xfrm>
            <a:off x="7416666" y="1300000"/>
            <a:ext cx="1433333" cy="22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95959"/>
                </a:solidFill>
                <a:latin typeface="Poppins"/>
              </a:rPr>
              <a:t>Dezembro</a:t>
            </a:r>
          </a:p>
        </p:txBody>
      </p:sp>
      <p:cxnSp>
        <p:nvCxnSpPr>
          <p:cNvPr id="305" name="Connector 305"/>
          <p:cNvCxnSpPr/>
          <p:nvPr/>
        </p:nvCxnSpPr>
        <p:spPr>
          <a:xfrm>
            <a:off x="7416666" y="1560000"/>
            <a:ext cx="0" cy="2580000"/>
          </a:xfrm>
          <a:prstGeom prst="line">
            <a:avLst/>
          </a:prstGeom>
          <a:ln w="9525">
            <a:solidFill>
              <a:srgbClr val="E3E3EA"/>
            </a:solidFill>
          </a:ln>
          <a:effectLst/>
        </p:spPr>
      </p:cxnSp>
      <p:sp>
        <p:nvSpPr>
          <p:cNvPr id="306" name="TextBox 306"/>
          <p:cNvSpPr txBox="1"/>
          <p:nvPr/>
        </p:nvSpPr>
        <p:spPr>
          <a:xfrm>
            <a:off x="2450000" y="164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Frente 1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Imersão e diagnóstico</a:t>
            </a:r>
          </a:p>
        </p:txBody>
      </p:sp>
      <p:sp>
        <p:nvSpPr>
          <p:cNvPr id="307" name="Rounded Rectangle 307"/>
          <p:cNvSpPr/>
          <p:nvPr/>
        </p:nvSpPr>
        <p:spPr>
          <a:xfrm>
            <a:off x="4734946" y="1780000"/>
            <a:ext cx="554838" cy="13000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8" name="Connector 308"/>
          <p:cNvCxnSpPr/>
          <p:nvPr/>
        </p:nvCxnSpPr>
        <p:spPr>
          <a:xfrm>
            <a:off x="2450000" y="204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09" name="TextBox 309"/>
          <p:cNvSpPr txBox="1"/>
          <p:nvPr/>
        </p:nvSpPr>
        <p:spPr>
          <a:xfrm>
            <a:off x="2450000" y="206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Frente 2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Visão de produto e roadmap</a:t>
            </a:r>
          </a:p>
        </p:txBody>
      </p:sp>
      <p:sp>
        <p:nvSpPr>
          <p:cNvPr id="310" name="Rounded Rectangle 310"/>
          <p:cNvSpPr/>
          <p:nvPr/>
        </p:nvSpPr>
        <p:spPr>
          <a:xfrm>
            <a:off x="5382257" y="2200000"/>
            <a:ext cx="231182" cy="130000"/>
          </a:xfrm>
          <a:prstGeom prst="roundRect">
            <a:avLst>
              <a:gd name="adj" fmla="val 50000"/>
            </a:avLst>
          </a:prstGeom>
          <a:solidFill>
            <a:srgbClr val="3A5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1" name="Connector 311"/>
          <p:cNvCxnSpPr/>
          <p:nvPr/>
        </p:nvCxnSpPr>
        <p:spPr>
          <a:xfrm>
            <a:off x="2450000" y="246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12" name="TextBox 312"/>
          <p:cNvSpPr txBox="1"/>
          <p:nvPr/>
        </p:nvSpPr>
        <p:spPr>
          <a:xfrm>
            <a:off x="2450000" y="248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Onda 1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Carteira e posto</a:t>
            </a:r>
          </a:p>
        </p:txBody>
      </p:sp>
      <p:sp>
        <p:nvSpPr>
          <p:cNvPr id="313" name="Rounded Rectangle 313"/>
          <p:cNvSpPr/>
          <p:nvPr/>
        </p:nvSpPr>
        <p:spPr>
          <a:xfrm>
            <a:off x="5705913" y="2620000"/>
            <a:ext cx="564085" cy="130000"/>
          </a:xfrm>
          <a:prstGeom prst="roundRect">
            <a:avLst>
              <a:gd name="adj" fmla="val 50000"/>
            </a:avLst>
          </a:prstGeom>
          <a:solidFill>
            <a:srgbClr val="FF1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4" name="Connector 314"/>
          <p:cNvCxnSpPr/>
          <p:nvPr/>
        </p:nvCxnSpPr>
        <p:spPr>
          <a:xfrm>
            <a:off x="2450000" y="288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15" name="TextBox 315"/>
          <p:cNvSpPr txBox="1"/>
          <p:nvPr/>
        </p:nvSpPr>
        <p:spPr>
          <a:xfrm>
            <a:off x="2450000" y="290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Onda 2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Visita e resultado</a:t>
            </a:r>
          </a:p>
        </p:txBody>
      </p:sp>
      <p:sp>
        <p:nvSpPr>
          <p:cNvPr id="316" name="Rounded Rectangle 316"/>
          <p:cNvSpPr/>
          <p:nvPr/>
        </p:nvSpPr>
        <p:spPr>
          <a:xfrm>
            <a:off x="6365555" y="3040000"/>
            <a:ext cx="573333" cy="130000"/>
          </a:xfrm>
          <a:prstGeom prst="roundRect">
            <a:avLst>
              <a:gd name="adj" fmla="val 50000"/>
            </a:avLst>
          </a:prstGeom>
          <a:solidFill>
            <a:srgbClr val="6E5B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7" name="Connector 317"/>
          <p:cNvCxnSpPr/>
          <p:nvPr/>
        </p:nvCxnSpPr>
        <p:spPr>
          <a:xfrm>
            <a:off x="2450000" y="330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18" name="TextBox 318"/>
          <p:cNvSpPr txBox="1"/>
          <p:nvPr/>
        </p:nvSpPr>
        <p:spPr>
          <a:xfrm>
            <a:off x="2450000" y="332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Testes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Consultores, uma rodada por onda</a:t>
            </a:r>
          </a:p>
        </p:txBody>
      </p:sp>
      <p:sp>
        <p:nvSpPr>
          <p:cNvPr id="319" name="Rounded Rectangle 319"/>
          <p:cNvSpPr/>
          <p:nvPr/>
        </p:nvSpPr>
        <p:spPr>
          <a:xfrm>
            <a:off x="6126666" y="3460000"/>
            <a:ext cx="143333" cy="1300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ounded Rectangle 320"/>
          <p:cNvSpPr/>
          <p:nvPr/>
        </p:nvSpPr>
        <p:spPr>
          <a:xfrm>
            <a:off x="6795555" y="3460000"/>
            <a:ext cx="143333" cy="1300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1" name="Connector 321"/>
          <p:cNvCxnSpPr/>
          <p:nvPr/>
        </p:nvCxnSpPr>
        <p:spPr>
          <a:xfrm>
            <a:off x="2450000" y="3720000"/>
            <a:ext cx="6400000" cy="0"/>
          </a:xfrm>
          <a:prstGeom prst="line">
            <a:avLst/>
          </a:prstGeom>
          <a:ln w="9525">
            <a:solidFill>
              <a:srgbClr val="E3E3EA"/>
            </a:solidFill>
            <a:prstDash val="dash"/>
          </a:ln>
          <a:effectLst/>
        </p:spPr>
      </p:cxnSp>
      <p:sp>
        <p:nvSpPr>
          <p:cNvPr id="322" name="TextBox 322"/>
          <p:cNvSpPr txBox="1"/>
          <p:nvPr/>
        </p:nvSpPr>
        <p:spPr>
          <a:xfrm>
            <a:off x="2450000" y="3740000"/>
            <a:ext cx="2050000" cy="410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12121"/>
                </a:solidFill>
                <a:latin typeface="Poppins"/>
              </a:rPr>
              <a:t>Stringhini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Implementação e revisão</a:t>
            </a:r>
          </a:p>
        </p:txBody>
      </p:sp>
      <p:sp>
        <p:nvSpPr>
          <p:cNvPr id="323" name="Rounded Rectangle 323"/>
          <p:cNvSpPr/>
          <p:nvPr/>
        </p:nvSpPr>
        <p:spPr>
          <a:xfrm>
            <a:off x="6365555" y="3880000"/>
            <a:ext cx="1883368" cy="130000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000" y="4220000"/>
            <a:ext cx="6400000" cy="300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Poppins"/>
              </a:rPr>
              <a:t>Datas contadas a partir de um kickoff em 5 de outubro. A implementação é conduzida pela Stringhini.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144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478554" y="1467053"/>
            <a:ext cx="5400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Investimento</a:t>
            </a:r>
            <a:endParaRPr sz="5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470776" y="377700"/>
            <a:ext cx="19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3333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sz="7200">
              <a:solidFill>
                <a:srgbClr val="33333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014" y="4507474"/>
            <a:ext cx="325607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808075" y="4528975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9138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205202" y="2743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211479" y="550915"/>
            <a:ext cx="224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Marcos de pagamento apresentados em detalhe ao lado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05202" y="1112544"/>
            <a:ext cx="134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Atendimento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200025" y="1373200"/>
            <a:ext cx="2047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Fattoria e seu time operam dentro do horário comercial  de 2ª a 6ª feira, de 9 às 18h, operações fora do padrão acarretam em custos extras que precisam ser previamente acordados por ambas as partes antes da execução.</a:t>
            </a:r>
            <a:endParaRPr sz="7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95674" y="25603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Impostos e Taxas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90500" y="2821000"/>
            <a:ext cx="204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Os valores apresentados já contemplam impostos e tributos.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95674" y="3474750"/>
            <a:ext cx="20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Validade da proposta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190500" y="3735400"/>
            <a:ext cx="204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30 dias</a:t>
            </a:r>
            <a:endParaRPr sz="8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165700" y="40535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Consultoria e redesign do App de Execução</a:t>
            </a:r>
            <a:br>
              <a:rPr lang="en" sz="1000" b="1">
                <a:latin typeface="Poppins"/>
                <a:ea typeface="Poppins"/>
                <a:cs typeface="Poppins"/>
                <a:sym typeface="Poppins"/>
              </a:rPr>
            </a:br>
            <a:r>
              <a:rPr lang="en" sz="700">
                <a:latin typeface="Poppins"/>
                <a:ea typeface="Poppins"/>
                <a:cs typeface="Poppins"/>
                <a:sym typeface="Poppins"/>
              </a:rPr>
              <a:t>352 horas: imersão, roadmap, redesign da Fase 1 e acompanhamento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6802325" y="405336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R$ 70.400,00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5" name="Google Shape;205;p23"/>
          <p:cNvCxnSpPr/>
          <p:nvPr/>
        </p:nvCxnSpPr>
        <p:spPr>
          <a:xfrm>
            <a:off x="3248865" y="1046680"/>
            <a:ext cx="50127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3"/>
          <p:cNvSpPr txBox="1"/>
          <p:nvPr/>
        </p:nvSpPr>
        <p:spPr>
          <a:xfrm>
            <a:off x="3170000" y="1234300"/>
            <a:ext cx="5024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Condições de pagamento: 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divididas em marcos de entrega.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3165700" y="1624543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Assinatura da proposta (30%)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6802325" y="1624543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R$ 21.120,00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3165700" y="1966800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Entrega da visão e do roadmap (30%)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6802325" y="1966800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R$ 21.120,00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165700" y="2303029"/>
            <a:ext cx="3709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Poppins Medium"/>
                <a:ea typeface="Poppins Medium"/>
                <a:cs typeface="Poppins Medium"/>
                <a:sym typeface="Poppins Medium"/>
              </a:rPr>
              <a:t>Entrega das telas da onda 2 (40%)</a:t>
            </a:r>
            <a:endParaRPr sz="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6802325" y="2303029"/>
            <a:ext cx="1529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R$ 28.160,00</a:t>
            </a:r>
            <a:endParaRPr sz="10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ouvimos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Pontos levantados nas reuniões de 18/09 e nas conversas com consultores e coordenadores: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Carteira: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452 tarefas numa lista, sem mapa nem visão de postos próximos, e uma busca com mais cliques que nas versões anteriores.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Informação do posto: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da visita espalhados em sistemas diferentes e pendências de visitas anteriores difíceis de recuperar.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Checklist: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sequência que nem sempre segue a visita física, guia fora do fluxo, fotos obrigatórias que alongam a visita e um "Concluir" que não conclui.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Relatório e auditoria: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"Gerar relatório" escondido num menu, relatório sem dizer se já passou pela auditoria e envio individual por e-mail.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Home e conhecimento: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quatro banners estáticos e uma central de conteúdo sem contexto, sem dado sobre o que o consultor procura.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Gestão: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dashboard pensado para o notebook e registro de oportunidades comerciais ainda fora do app.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Partir das dores reais da operação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Ponto de partida do diagnóstico, a validar na imersão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Levantado em setembro de 2026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79824" y="340625"/>
            <a:ext cx="451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Escopo</a:t>
            </a:r>
            <a:endParaRPr sz="36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377625" y="1170575"/>
            <a:ext cx="6410400" cy="3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Frente 5:  Teste, entrega e acompanhamento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Testes com consultores: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rodada por onda, remota, com 5 consultores e o protótipo, e os ajustes que ela apontar.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Entrega para a Stringhini: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telas anotadas, especificação de componentes e comportamentos, e uma sessão de passagem por onda.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Acompanhamento da implementação: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revisão das telas em homologação e canal direto entre design e desenvolvimento até 18 de dezembro.</a:t>
            </a:r>
            <a:endParaRPr sz="1000"/>
          </a:p>
          <a:p>
            <a:pPr marL="342900" lvl="0" indent="-177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•    </a:t>
            </a:r>
            <a:r>
              <a:rPr lang="pt-BR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 xml:space="preserve">Indicadores: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definição, com a Stringhini, dos registros que medem o antes e o depois: tempo de visita, reaberturas e buscas na central.</a:t>
            </a:r>
            <a:endParaRPr sz="1000"/>
          </a:p>
        </p:txBody>
      </p:sp>
      <p:sp>
        <p:nvSpPr>
          <p:cNvPr id="95" name="Google Shape;95;p16"/>
          <p:cNvSpPr txBox="1"/>
          <p:nvPr/>
        </p:nvSpPr>
        <p:spPr>
          <a:xfrm>
            <a:off x="538577" y="1198269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38577" y="1449410"/>
            <a:ext cx="134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Levar o desenho à implementação sem perder o que foi validado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38577" y="2130622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Entregáveis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38574" y="2345850"/>
            <a:ext cx="174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Testes, entrega por onda e revisão em homologação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9351" y="4506179"/>
            <a:ext cx="33870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66775" y="1270071"/>
            <a:ext cx="27000" cy="429300"/>
          </a:xfrm>
          <a:prstGeom prst="rect">
            <a:avLst/>
          </a:prstGeom>
          <a:solidFill>
            <a:srgbClr val="6E5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75551" y="2189071"/>
            <a:ext cx="27000" cy="506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38577" y="2973410"/>
            <a:ext cx="134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Tempo estimado</a:t>
            </a:r>
            <a:endParaRPr sz="1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577" y="3188645"/>
            <a:ext cx="13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 semanas · 64 horas</a:t>
            </a:r>
            <a:endParaRPr sz="800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5550" y="3031857"/>
            <a:ext cx="27000" cy="431100"/>
          </a:xfrm>
          <a:prstGeom prst="rect">
            <a:avLst/>
          </a:prstGeom>
          <a:solidFill>
            <a:srgbClr val="FF1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20059" y="4590047"/>
            <a:ext cx="653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Proposta Comercial          Ipiranga · Julio Araujo          App de Execução · Setembro de 2026</a:t>
            </a: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Macintosh PowerPoint</Application>
  <PresentationFormat>Apresentação na tela (16:9)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Poppins SemiBold</vt:lpstr>
      <vt:lpstr>Poppins Light</vt:lpstr>
      <vt:lpstr>Arial</vt:lpstr>
      <vt:lpstr>Poppins</vt:lpstr>
      <vt:lpstr>Poppins Medium</vt:lpstr>
      <vt:lpstr>Poppins ExtraLight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Castelo Branco</cp:lastModifiedBy>
  <cp:revision>1</cp:revision>
  <dcterms:modified xsi:type="dcterms:W3CDTF">2026-06-16T23:33:24Z</dcterms:modified>
</cp:coreProperties>
</file>